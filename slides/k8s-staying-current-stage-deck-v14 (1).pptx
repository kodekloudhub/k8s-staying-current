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79" r:id="rId12"/>
    <p:sldId id="266" r:id="rId13"/>
    <p:sldId id="267" r:id="rId14"/>
    <p:sldId id="280" r:id="rId15"/>
    <p:sldId id="268" r:id="rId16"/>
    <p:sldId id="269" r:id="rId17"/>
    <p:sldId id="270" r:id="rId18"/>
    <p:sldId id="271" r:id="rId19"/>
    <p:sldId id="277" r:id="rId20"/>
    <p:sldId id="278" r:id="rId21"/>
    <p:sldId id="272" r:id="rId22"/>
    <p:sldId id="273" r:id="rId23"/>
    <p:sldId id="274" r:id="rId24"/>
    <p:sldId id="275" r:id="rId25"/>
    <p:sldId id="276"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88"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2868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So Michael and I have trained over a million students at KodeKloud. We've helped more people pass Kubernetes certifications than almost anyone. And you know what the number one message we get the week after someone passes their exam is?
"I passed. Now what?"
That's literally it. "Now what." So today we're going to answer that question. I'm going to play the guy who just passed his CKA -- because I remember exactly what that feels like -- and Michael is going to be the guide I wish I'd had. Ready?
MICHAEL: Let's do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Okay so I passed my CKA. I studied hard. I know my stuff. How long before what I learned is out of date?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Honestly? Parts of it are already out of date. Kubernetes ships three releases a year on roughly 15-week cycles. v1.35, codenamed "Timbernetes," shipped December 17th. v1.36 is targeting April 22nd -- that's less than a month from now. Each release can deprecate APIs, graduate features, or change default behaviors.
MUMSHAD: Wait -- so what I studied for my cert six months ago might already have deprecations I don't know about?
MICHAEL: Exactly. Here's a real example: v1.32 -- end of life was February 28th. That's three weeks ago. If you passed your cert on v1.32, that version is already unsupported. And here's one that's going to affect a lot of people in this room: Ingress NGINX is being archived after March 2026. Gateway API is the replacement. If you learned Ingress for your cert, you need to learn Gateway API now. Your cert is a snapshot. The ecosystem is a moving target.
MUMSHAD: So how do I track that? I can't re-study every four months.
MICHAEL: You don't need to. You need a system. But first, let me show you how the machine works -- because once you understand the structure, you'll know exactly where to look.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Okay, I always assumed CNCF runs Kubernetes. Is that right?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No. And this is one of the most common misconceptions. CNCF is like a landlord. They own the building -- the trademark, conformance certification, KubeCon. But they can't tell the tenant how to arrange the furniture. Every technical decision in Kubernetes is made by SIGs -- Special Interest Groups. There are 24 of them.
MUMSHAD: Twenty-four?
MICHAEL: Twenty-four. SIG Network owns all the networking code. SIG Node owns the kubelet. SIG Release manages the release process. SIG Architecture runs API review and the KEP process. Each SIG has chairs, tech leads, and genuine authority over their domain. No central body approves every change -- the SIGs decide.
MUMSHAD: So if I want to know what's changing in networking, I don't go to CNCF...
MICHAEL: You go to SIG Network. Their Slack channel, their mailing list, their meetings. That's where the decisions are made.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But here's what most people miss: SIGs have subprojects. That's where specific work happens. Core subprojects live in github.com/kubernetes -- that's kube-apiserver, kubelet, kubectl. These ship in every release.
SIG subprojects live in github.com/kubernetes-sigs -- roughly 200 repos. These are still official Kubernetes, but they release independently. Gateway API is a SIG Network subproject. It ships as CRDs, has its own version -- v1.5.1 -- its own GEP process, not KEPs. Cluster API, Kustomize, external-dns -- same pattern.
Working Groups are temporary, cross-SIG, own no code. They disband when their issue is resolved.
If you want to find who's in each body: github.com/kubernetes/steering, github.com/kubernetes/community/blob/master/sig-list.md.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Wait -- I've also heard of TAGs. So SIGs handle everything across the whole cloud native ecosystem too?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Completely different. CNCF originally called their groups SIGs too, which confused everyone. So they renamed them TAGs -- Technical Advisory Groups. The key difference: SIGs own code. TAGs advise. SIGs report to the Kubernetes Steering Committee. TAGs report to the CNCF TOC. There are 5 TAGs now, restructured in May 2025 from the original 8.
But TAGs do real work. TAG Security and Compliance has done 50+ security assessments of CNCF projects. They published the Cloud Native Security Whitepaper. Supply Chain Best Practices v2. And just this week at KubeCon -- they wrapped up the 2026 Security Slam.
MUMSHAD: So SIGs build Kubernetes, TAGs advise on the ecosystem. Got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So how does a feature actually get into Kubernetes?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Through the KEP process -- Kubernetes Enhancement Proposal. Every significant change starts as a KEP in the kubernetes/enhancements repo. It goes through stages: Alpha means it exists but is off by default. Beta means it's on by default but might change. Stable means it's permanent.
v1.35 had 60 enhancements: 17 went Stable, 19 graduated to Beta, 22 entered Alpha. That's the pipeline in action.
Here's the actionable part: every KEP lives at a predictable URL. The path is keps/sig-{name}/{number}-{description}. And there's a shortcut: kep.k8s.io/{number} takes you straight there. So if someone mentions KEP-1287, you type kep.k8s.io/1287 and you're looking at the full proposal.
MUMSHAD: Can you show me what that looks like for a real feature?
MICHAEL: Let's do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02505-459B-E69B-C65E-907372815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AB552-370A-F54B-4551-8D06C85C93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0BA96-6F1E-E47C-412E-CAFD1680750D}"/>
              </a:ext>
            </a:extLst>
          </p:cNvPr>
          <p:cNvSpPr>
            <a:spLocks noGrp="1"/>
          </p:cNvSpPr>
          <p:nvPr>
            <p:ph type="body" idx="1"/>
          </p:nvPr>
        </p:nvSpPr>
        <p:spPr/>
        <p:txBody>
          <a:bodyPr/>
          <a:lstStyle/>
          <a:p>
            <a:r>
              <a:rPr lang="en-US" dirty="0"/>
              <a:t>MICHAEL: Through the KEP process -- Kubernetes Enhancement Proposal. Every significant change starts as a KEP in the kubernetes/enhancements repo. It goes through stages: Alpha means it exists but is off by default. Beta means it's on by default but might change. Stable means it's permanent.
v1.35 had 60 enhancements: 17 went Stable, 19 graduated to Beta, 22 entered Alpha. That's the pipeline in action.
Here's the actionable part: every KEP lives at a predictable URL. The path is keps/sig-{name}/{number}-{description}. And there's a shortcut: kep.k8s.io/{number} takes you straight there. So if someone mentions KEP-1287, you type kep.k8s.io/1287 and you're looking at the full proposal.
MUMSHAD: Can you show me what that looks like for a real feature?
MICHAEL: Let's do it.</a:t>
            </a:r>
          </a:p>
        </p:txBody>
      </p:sp>
      <p:sp>
        <p:nvSpPr>
          <p:cNvPr id="4" name="Slide Number Placeholder 3">
            <a:extLst>
              <a:ext uri="{FF2B5EF4-FFF2-40B4-BE49-F238E27FC236}">
                <a16:creationId xmlns:a16="http://schemas.microsoft.com/office/drawing/2014/main" id="{C683D27A-9BFB-CEA4-2658-70619D03BB6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87021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I heard about In-Place Pod Resize. Where did it come from?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In-Place Pod Resize -- KEP-1287. This lets you change a pod's CPU and memory without restarting it. Here's how it traveled through the system:
Step 1: Someone in SIG Node proposed it. The KEP was created under keps/sig-node/1287-in-place-update-pod-resources/.
Step 2: It entered Alpha in v1.27. Feature gate InPlacePodVerticalScaling, off by default. Early adopters could test it.
Step 3: It graduated to Beta in v1.33. Feature gate on by default. Broader testing.
Step 4: It went GA -- Generally Available -- in v1.35, December 2025. Feature gate locked. It's permanent.
That's 8 versions and roughly 3 years from proposal to stable. That's normal. The kep.yaml file in the repo tracks every stage transition.
MUMSHAD: So if I want to know what's coming, I watch the enhancements repo?
MICHAEL: Exactly. And relnotes.k8s.io gives you a searchable view of every release note.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65EF-DF8B-FB57-6CF7-7F005E0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6D0B9-5B00-EE30-726B-847A61106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CF325-82EE-F532-8FE3-50307670DAB5}"/>
              </a:ext>
            </a:extLst>
          </p:cNvPr>
          <p:cNvSpPr>
            <a:spLocks noGrp="1"/>
          </p:cNvSpPr>
          <p:nvPr>
            <p:ph type="body" idx="1"/>
          </p:nvPr>
        </p:nvSpPr>
        <p:spPr/>
        <p:txBody>
          <a:bodyPr/>
          <a:lstStyle/>
          <a:p>
            <a:r>
              <a:rPr lang="en-US" dirty="0"/>
              <a:t>MICHAEL: In-Place Pod Resize -- KEP-1287. This lets you change a pod's CPU and memory without restarting it. Here's how it traveled through the system:
Step 1: Someone in SIG Node proposed it. The KEP was created under keps/sig-node/1287-in-place-update-pod-resources/.
Step 2: It entered Alpha in v1.27. Feature gate InPlacePodVerticalScaling, off by default. Early adopters could test it.
Step 3: It graduated to Beta in v1.33. Feature gate on by default. Broader testing.
Step 4: It went GA -- Generally Available -- in v1.35, December 2025. Feature gate locked. It's permanent.
That's 8 versions and roughly 3 years from proposal to stable. That's normal. The kep.yaml file in the repo tracks every stage transition.
MUMSHAD: So if I want to know what's coming, I watch the enhancements repo?
MICHAEL: Exactly. And relnotes.k8s.io gives you a searchable view of every release note.</a:t>
            </a:r>
          </a:p>
        </p:txBody>
      </p:sp>
      <p:sp>
        <p:nvSpPr>
          <p:cNvPr id="4" name="Slide Number Placeholder 3">
            <a:extLst>
              <a:ext uri="{FF2B5EF4-FFF2-40B4-BE49-F238E27FC236}">
                <a16:creationId xmlns:a16="http://schemas.microsoft.com/office/drawing/2014/main" id="{CAF58957-D4CE-88CC-14A0-EF1451F71F43}"/>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514893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Okay, different question. I found a bug in Kubernetes. How do I even report that?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Four steps. First: go to github.com/kubernetes/kubernetes and open an issue. Use the bug report template. Second: a Prow bot will ask you to categorize it. The key commands:
/sig node -- assigns it to SIG Node.
/triage accepted -- confirms it's a real issue.
/assign @username -- claims it.
/lgtm and /approve -- for the eventual fix.
Full reference at go.k8s.io/bot-commands.
Third: once it's triaged, the SIG that owns it will prioritize it.
Fourth -- and this is critical -- if it's a security vulnerability, do NOT open a public issue. Email security@kubernetes.io. The Security Response Committee handles those privately.
MUMSHAD: Even bug reporting is structured. Everything goes through the SIGs.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While I was studying, I subscribed to KubeWeekly. I haven't seen one in months. Am I good?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You're not. KubeWeekly published its last issue -- number 434 -- in May 2025. It's dead.
MUMSHAD: My newsletter died and nobody sent me a memo.
MICHAEL: And it gets worse. The Kubernetes Slack nearly migrated to Discord in June. Salesforce was going to kill the free enterprise tier. They reversed course at the last minute. But the near-death experience spooked the community. Meanwhile, Bluesky is now an official Kubernetes social channel -- the v1.33 release blog explicitly told people to follow @kubernetes.io on Bluesky.
So the information landscape broke and reassembled in 2025. If you're using the same bookmarks from when you studied for your cert, half of them are stale.
MUMSHAD: So what do I actually subscribe to now?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BF994-EF4E-8768-E55A-80FEFFCBE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09808-9AB3-B9B9-7494-1B0F1147C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5E36B-C7E5-3C01-9DD2-9CD5514B9B2B}"/>
              </a:ext>
            </a:extLst>
          </p:cNvPr>
          <p:cNvSpPr>
            <a:spLocks noGrp="1"/>
          </p:cNvSpPr>
          <p:nvPr>
            <p:ph type="body" idx="1"/>
          </p:nvPr>
        </p:nvSpPr>
        <p:spPr/>
        <p:txBody>
          <a:bodyPr/>
          <a:lstStyle/>
          <a:p>
            <a:r>
              <a:rPr lang="en-US" dirty="0"/>
              <a:t>MICHAEL: You're not. KubeWeekly published its last issue -- number 434 -- in May 2025. It's dead.
MUMSHAD: My newsletter died and nobody sent me a memo.
MICHAEL: And it gets worse. The Kubernetes Slack nearly migrated to Discord in June. Salesforce was going to kill the free enterprise tier. They reversed course at the last minute. But the near-death experience spooked the community. Meanwhile, Bluesky is now an official Kubernetes social channel -- the v1.33 release blog explicitly told people to follow @kubernetes.io on Bluesky.
So the information landscape broke and reassembled in 2025. If you're using the same bookmarks from when you studied for your cert, half of them are stale.
MUMSHAD: So what do I actually subscribe to now?</a:t>
            </a:r>
          </a:p>
        </p:txBody>
      </p:sp>
      <p:sp>
        <p:nvSpPr>
          <p:cNvPr id="4" name="Slide Number Placeholder 3">
            <a:extLst>
              <a:ext uri="{FF2B5EF4-FFF2-40B4-BE49-F238E27FC236}">
                <a16:creationId xmlns:a16="http://schemas.microsoft.com/office/drawing/2014/main" id="{F43BDE2C-1A04-9A48-98FD-E312AEF7790C}"/>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520582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58E8-7E0F-630C-6846-A8F50C52E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8D2FE-BA2E-EE58-19B1-6E906274A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3251F-62D4-7E2F-C77C-FBEDA3A9948C}"/>
              </a:ext>
            </a:extLst>
          </p:cNvPr>
          <p:cNvSpPr>
            <a:spLocks noGrp="1"/>
          </p:cNvSpPr>
          <p:nvPr>
            <p:ph type="body" idx="1"/>
          </p:nvPr>
        </p:nvSpPr>
        <p:spPr/>
        <p:txBody>
          <a:bodyPr/>
          <a:lstStyle/>
          <a:p>
            <a:r>
              <a:rPr lang="en-US" dirty="0"/>
              <a:t>MICHAEL: You're not. KubeWeekly published its last issue -- number 434 -- in May 2025. It's dead.
MUMSHAD: My newsletter died and nobody sent me a memo.
MICHAEL: And it gets worse. The Kubernetes Slack nearly migrated to Discord in June. Salesforce was going to kill the free enterprise tier. They reversed course at the last minute. But the near-death experience spooked the community. Meanwhile, Bluesky is now an official Kubernetes social channel -- the v1.33 release blog explicitly told people to follow @kubernetes.io on Bluesky.
So the information landscape broke and reassembled in 2025. If you're using the same bookmarks from when you studied for your cert, half of them are stale.
MUMSHAD: So what do I actually subscribe to now?</a:t>
            </a:r>
          </a:p>
        </p:txBody>
      </p:sp>
      <p:sp>
        <p:nvSpPr>
          <p:cNvPr id="4" name="Slide Number Placeholder 3">
            <a:extLst>
              <a:ext uri="{FF2B5EF4-FFF2-40B4-BE49-F238E27FC236}">
                <a16:creationId xmlns:a16="http://schemas.microsoft.com/office/drawing/2014/main" id="{D1566848-BD1D-7E57-88E7-7326E15700C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19517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I'm overwhelmed. What do I actually need?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Five things. Non-negotiable.
1. kubernetes-security-announce mailing list. Every CVE lands here first.
2. LWKD -- Last Week in Kubernetes Development. Weekly digest of what changed in the codebase.
3. Kubernetes blog RSS feed. Release announcements, deprecation notices.
4. GitHub "Releases Only" watch on kubernetes/kubernetes. One notification per release.
5. The official CVE JSON feed for automated monitoring.
That's your safety net. Takes zero time until something fires.
Then weekly: 20 minutes reading LWKD and scanning the blog. Monthly: check the "Wisdom of the Cloud" newsletter that replaced KubeWeekly. And join the Slack channel for whatever SIG is most relevant to your work.
MUMSHAD: That's it? Five subscriptions and 20 minutes a week?
MICHAEL: That's the system. And if you want to go deeper...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Actually, yeah. I want to go deeper. How do I start contributing?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Five steps:
1. Join kubernetes.slack.com and find #kubernetes-new-contributors.
2. Go to the SIG Meet &amp; Greet -- check your KubeCon app, it's usually a lunch session in the Project Pavilion. You're literally surrounded by maintainers this week.
3. Pick a SIG. Find their good-first-issue label on GitHub. Every SIG maintains these.
4. Attend the New Contributor Orientation -- also happening this week.
5. For a deeper commitment, apply for the Release Team Shadow program. You'll shadow a release role for one cycle and learn the entire process.
And while you're here, look for Josh Berkus -- Red Hat's Kubernetes Community Architect, SIG ContribEx. He's the person who connects newcomers to the right SIGs.
MUMSHAD: So there's no excuse. The path exists, the people are here, and the structure is documented.
MICHAEL: Zero excuses.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MUMSHAD: Alright, let's land this.
Everything we just covered is in this repo. The governance structure, the channel list, the KEP trace walkthrough, the contribution guide, the Non-Negotiable Five -- it's all there.
Five things to remember:
1. Kubernetes ships 3x/year. Your cert is a snapshot.
2. SIGs own everything. CNCF is the landlord, not the architect.
3. TAGs advise across the ecosystem. SIGs build Kubernetes.
4. Five subscriptions and 20 minutes a week keeps you current.
5. The contribution path is documented and the people are here this week.
Scan the code. Got it? Good.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kubernetes/enhancements/blob/master/keps/README.md"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6CE5"/>
          </a:solidFill>
          <a:ln/>
        </p:spPr>
        <p:txBody>
          <a:bodyPr/>
          <a:lstStyle/>
          <a:p>
            <a:endParaRPr lang="en-US"/>
          </a:p>
        </p:txBody>
      </p:sp>
      <p:sp>
        <p:nvSpPr>
          <p:cNvPr id="3" name="Text 1"/>
          <p:cNvSpPr/>
          <p:nvPr/>
        </p:nvSpPr>
        <p:spPr>
          <a:xfrm>
            <a:off x="457200" y="365760"/>
            <a:ext cx="8229600" cy="457200"/>
          </a:xfrm>
          <a:prstGeom prst="rect">
            <a:avLst/>
          </a:prstGeom>
          <a:noFill/>
          <a:ln/>
        </p:spPr>
        <p:txBody>
          <a:bodyPr wrap="square" rtlCol="0" anchor="ctr"/>
          <a:lstStyle/>
          <a:p>
            <a:pPr marL="0" indent="0">
              <a:buNone/>
            </a:pPr>
            <a:r>
              <a:rPr lang="en-US" sz="1300" b="1" kern="0" spc="400" dirty="0">
                <a:solidFill>
                  <a:srgbClr val="326CE5"/>
                </a:solidFill>
                <a:latin typeface="Calibri" pitchFamily="34" charset="0"/>
                <a:ea typeface="Calibri" pitchFamily="34" charset="-122"/>
                <a:cs typeface="Calibri" pitchFamily="34" charset="-120"/>
              </a:rPr>
              <a:t>CLOUD NATIVE UNIVERSITY</a:t>
            </a:r>
            <a:endParaRPr lang="en-US" sz="1300" dirty="0"/>
          </a:p>
        </p:txBody>
      </p:sp>
      <p:sp>
        <p:nvSpPr>
          <p:cNvPr id="4" name="Text 2"/>
          <p:cNvSpPr/>
          <p:nvPr/>
        </p:nvSpPr>
        <p:spPr>
          <a:xfrm>
            <a:off x="457200" y="1005840"/>
            <a:ext cx="8229600" cy="1828800"/>
          </a:xfrm>
          <a:prstGeom prst="rect">
            <a:avLst/>
          </a:prstGeom>
          <a:noFill/>
          <a:ln/>
        </p:spPr>
        <p:txBody>
          <a:bodyPr wrap="square" rtlCol="0" anchor="ctr"/>
          <a:lstStyle/>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How Kubernetes</a:t>
            </a:r>
            <a:endParaRPr lang="en-US" sz="4400" dirty="0"/>
          </a:p>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Actually Ships</a:t>
            </a:r>
            <a:endParaRPr lang="en-US" sz="4400" dirty="0"/>
          </a:p>
        </p:txBody>
      </p:sp>
      <p:sp>
        <p:nvSpPr>
          <p:cNvPr id="5" name="Text 3"/>
          <p:cNvSpPr/>
          <p:nvPr/>
        </p:nvSpPr>
        <p:spPr>
          <a:xfrm>
            <a:off x="457200" y="2834640"/>
            <a:ext cx="7315200" cy="548640"/>
          </a:xfrm>
          <a:prstGeom prst="rect">
            <a:avLst/>
          </a:prstGeom>
          <a:noFill/>
          <a:ln/>
        </p:spPr>
        <p:txBody>
          <a:bodyPr wrap="square" rtlCol="0" anchor="ctr"/>
          <a:lstStyle/>
          <a:p>
            <a:pPr marL="0" indent="0">
              <a:buNone/>
            </a:pPr>
            <a:r>
              <a:rPr lang="en-US" sz="1600" dirty="0">
                <a:solidFill>
                  <a:srgbClr val="B0BEC5"/>
                </a:solidFill>
                <a:latin typeface="Calibri" pitchFamily="34" charset="0"/>
                <a:ea typeface="Calibri" pitchFamily="34" charset="-122"/>
                <a:cs typeface="Calibri" pitchFamily="34" charset="-120"/>
              </a:rPr>
              <a:t>An Educator’s Guide to Core Releases, SIGs, and Staying Current</a:t>
            </a:r>
            <a:endParaRPr lang="en-US" sz="1600" dirty="0"/>
          </a:p>
        </p:txBody>
      </p:sp>
      <p:sp>
        <p:nvSpPr>
          <p:cNvPr id="6" name="Shape 4"/>
          <p:cNvSpPr/>
          <p:nvPr/>
        </p:nvSpPr>
        <p:spPr>
          <a:xfrm>
            <a:off x="457200" y="3566160"/>
            <a:ext cx="1828800" cy="0"/>
          </a:xfrm>
          <a:prstGeom prst="line">
            <a:avLst/>
          </a:prstGeom>
          <a:noFill/>
          <a:ln w="25400">
            <a:solidFill>
              <a:srgbClr val="326CE5"/>
            </a:solidFill>
            <a:prstDash val="solid"/>
          </a:ln>
        </p:spPr>
        <p:txBody>
          <a:bodyPr/>
          <a:lstStyle/>
          <a:p>
            <a:endParaRPr lang="en-US"/>
          </a:p>
        </p:txBody>
      </p:sp>
      <p:sp>
        <p:nvSpPr>
          <p:cNvPr id="7" name="Text 5"/>
          <p:cNvSpPr/>
          <p:nvPr/>
        </p:nvSpPr>
        <p:spPr>
          <a:xfrm>
            <a:off x="457200" y="379476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Mumshad Mannambeth  &amp;  Michael Forrester</a:t>
            </a:r>
            <a:endParaRPr lang="en-US" sz="1600" dirty="0"/>
          </a:p>
        </p:txBody>
      </p:sp>
      <p:sp>
        <p:nvSpPr>
          <p:cNvPr id="8" name="Text 6"/>
          <p:cNvSpPr/>
          <p:nvPr/>
        </p:nvSpPr>
        <p:spPr>
          <a:xfrm>
            <a:off x="457200" y="4160520"/>
            <a:ext cx="5486400" cy="365760"/>
          </a:xfrm>
          <a:prstGeom prst="rect">
            <a:avLst/>
          </a:prstGeom>
          <a:noFill/>
          <a:ln/>
        </p:spPr>
        <p:txBody>
          <a:bodyPr wrap="square" rtlCol="0" anchor="ctr"/>
          <a:lstStyle/>
          <a:p>
            <a:pPr marL="0" indent="0">
              <a:buNone/>
            </a:pPr>
            <a:r>
              <a:rPr lang="en-US" sz="1300" dirty="0">
                <a:solidFill>
                  <a:srgbClr val="78909C"/>
                </a:solidFill>
                <a:latin typeface="Calibri" pitchFamily="34" charset="0"/>
                <a:ea typeface="Calibri" pitchFamily="34" charset="-122"/>
                <a:cs typeface="Calibri" pitchFamily="34" charset="-120"/>
              </a:rPr>
              <a:t>KodeKloud  •  KubeCon EU 2026  •  Amsterdam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 just got my CKA.  </a:t>
            </a:r>
            <a:br>
              <a:rPr lang="en-US" sz="3200" i="1" dirty="0">
                <a:solidFill>
                  <a:srgbClr val="D4A843"/>
                </a:solidFill>
                <a:latin typeface="Georgia" pitchFamily="34" charset="0"/>
                <a:ea typeface="Georgia" pitchFamily="34" charset="-122"/>
                <a:cs typeface="Georgia" pitchFamily="34" charset="-120"/>
              </a:rPr>
            </a:br>
            <a:r>
              <a:rPr lang="en-US" sz="3200" i="1" dirty="0">
                <a:solidFill>
                  <a:srgbClr val="D4A843"/>
                </a:solidFill>
                <a:latin typeface="Georgia" pitchFamily="34" charset="0"/>
                <a:ea typeface="Georgia" pitchFamily="34" charset="-122"/>
                <a:cs typeface="Georgia" pitchFamily="34" charset="-120"/>
              </a:rPr>
              <a:t>How long before what I</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learned is out of date?</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Kubernetes Release Cadence</a:t>
            </a:r>
            <a:endParaRPr lang="en-US" sz="2400" dirty="0"/>
          </a:p>
        </p:txBody>
      </p:sp>
      <p:sp>
        <p:nvSpPr>
          <p:cNvPr id="3" name="Text 1"/>
          <p:cNvSpPr/>
          <p:nvPr/>
        </p:nvSpPr>
        <p:spPr>
          <a:xfrm>
            <a:off x="457200" y="731520"/>
            <a:ext cx="8229600" cy="32004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3 releases/year  •  ~15-week cycles  •  14 months patch support</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1920240"/>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Version</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326CE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Codename</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326CE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Released</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326CE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326CE5"/>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EF5350"/>
                          </a:solidFill>
                          <a:latin typeface="Calibri" pitchFamily="34" charset="0"/>
                          <a:ea typeface="Calibri" pitchFamily="34" charset="-122"/>
                          <a:cs typeface="Calibri" pitchFamily="34" charset="-120"/>
                        </a:rPr>
                        <a:t>v1.32</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Penelope</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Dec 11, 2024</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EF5350"/>
                          </a:solidFill>
                          <a:latin typeface="Calibri" pitchFamily="34" charset="0"/>
                          <a:ea typeface="Calibri" pitchFamily="34" charset="-122"/>
                          <a:cs typeface="Calibri" pitchFamily="34" charset="-120"/>
                        </a:rPr>
                        <a:t>❌  EOL Feb 28, 2026</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4CAF50"/>
                          </a:solidFill>
                          <a:latin typeface="Calibri" pitchFamily="34" charset="0"/>
                          <a:ea typeface="Calibri" pitchFamily="34" charset="-122"/>
                          <a:cs typeface="Calibri" pitchFamily="34" charset="-120"/>
                        </a:rPr>
                        <a:t>v1.33</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Octarine</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Apr 23, 2025</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4CAF50"/>
                          </a:solidFill>
                          <a:latin typeface="Calibri" pitchFamily="34" charset="0"/>
                          <a:ea typeface="Calibri" pitchFamily="34" charset="-122"/>
                          <a:cs typeface="Calibri" pitchFamily="34" charset="-120"/>
                        </a:rPr>
                        <a:t>✅  Active support</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2"/>
                  </a:ext>
                </a:extLst>
              </a:tr>
              <a:tr h="320040">
                <a:tc>
                  <a:txBody>
                    <a:bodyPr/>
                    <a:lstStyle/>
                    <a:p>
                      <a:pPr marL="0" indent="0">
                        <a:buNone/>
                      </a:pPr>
                      <a:r>
                        <a:rPr lang="en-US" sz="1100" dirty="0">
                          <a:solidFill>
                            <a:srgbClr val="4CAF50"/>
                          </a:solidFill>
                          <a:latin typeface="Calibri" pitchFamily="34" charset="0"/>
                          <a:ea typeface="Calibri" pitchFamily="34" charset="-122"/>
                          <a:cs typeface="Calibri" pitchFamily="34" charset="-120"/>
                        </a:rPr>
                        <a:t>v1.34</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Of Wind &amp; Will</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Aug 27, 2025</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4CAF50"/>
                          </a:solidFill>
                          <a:latin typeface="Calibri" pitchFamily="34" charset="0"/>
                          <a:ea typeface="Calibri" pitchFamily="34" charset="-122"/>
                          <a:cs typeface="Calibri" pitchFamily="34" charset="-120"/>
                        </a:rPr>
                        <a:t>✅  Active support</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4CAF50"/>
                          </a:solidFill>
                          <a:latin typeface="Calibri" pitchFamily="34" charset="0"/>
                          <a:ea typeface="Calibri" pitchFamily="34" charset="-122"/>
                          <a:cs typeface="Calibri" pitchFamily="34" charset="-120"/>
                        </a:rPr>
                        <a:t>v1.35</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Timbernetes</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Dec 17, 2025</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b="1" dirty="0">
                          <a:solidFill>
                            <a:srgbClr val="4CAF50"/>
                          </a:solidFill>
                          <a:latin typeface="Calibri" pitchFamily="34" charset="0"/>
                          <a:ea typeface="Calibri" pitchFamily="34" charset="-122"/>
                          <a:cs typeface="Calibri" pitchFamily="34" charset="-120"/>
                        </a:rPr>
                        <a:t>✅  Current</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4"/>
                  </a:ext>
                </a:extLst>
              </a:tr>
              <a:tr h="320040">
                <a:tc>
                  <a:txBody>
                    <a:bodyPr/>
                    <a:lstStyle/>
                    <a:p>
                      <a:pPr marL="0" indent="0">
                        <a:buNone/>
                      </a:pPr>
                      <a:r>
                        <a:rPr lang="en-US" sz="1100" b="1" dirty="0">
                          <a:solidFill>
                            <a:srgbClr val="326CE5"/>
                          </a:solidFill>
                          <a:latin typeface="Calibri" pitchFamily="34" charset="0"/>
                          <a:ea typeface="Calibri" pitchFamily="34" charset="-122"/>
                          <a:cs typeface="Calibri" pitchFamily="34" charset="-120"/>
                        </a:rPr>
                        <a:t>v1.36</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TBD</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B0BEC5"/>
                          </a:solidFill>
                          <a:latin typeface="Calibri" pitchFamily="34" charset="0"/>
                          <a:ea typeface="Calibri" pitchFamily="34" charset="-122"/>
                          <a:cs typeface="Calibri" pitchFamily="34" charset="-120"/>
                        </a:rPr>
                        <a:t>Apr 22, 2026 (target)</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100" dirty="0">
                          <a:solidFill>
                            <a:srgbClr val="326CE5"/>
                          </a:solidFill>
                          <a:latin typeface="Calibri" pitchFamily="34" charset="0"/>
                          <a:ea typeface="Calibri" pitchFamily="34" charset="-122"/>
                          <a:cs typeface="Calibri" pitchFamily="34" charset="-120"/>
                        </a:rPr>
                        <a:t>⏳  Code freeze Mar 18</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5"/>
                  </a:ext>
                </a:extLst>
              </a:tr>
            </a:tbl>
          </a:graphicData>
        </a:graphic>
      </p:graphicFrame>
      <p:sp>
        <p:nvSpPr>
          <p:cNvPr id="5" name="Shape 2"/>
          <p:cNvSpPr/>
          <p:nvPr/>
        </p:nvSpPr>
        <p:spPr>
          <a:xfrm>
            <a:off x="457200" y="3657600"/>
            <a:ext cx="2560320" cy="1188720"/>
          </a:xfrm>
          <a:prstGeom prst="rect">
            <a:avLst/>
          </a:prstGeom>
          <a:solidFill>
            <a:srgbClr val="0D1527"/>
          </a:solidFill>
          <a:ln w="12700">
            <a:solidFill>
              <a:srgbClr val="1A2744"/>
            </a:solidFill>
            <a:prstDash val="solid"/>
          </a:ln>
        </p:spPr>
        <p:txBody>
          <a:bodyPr/>
          <a:lstStyle/>
          <a:p>
            <a:endParaRPr lang="en-US"/>
          </a:p>
        </p:txBody>
      </p:sp>
      <p:sp>
        <p:nvSpPr>
          <p:cNvPr id="6" name="Text 3"/>
          <p:cNvSpPr/>
          <p:nvPr/>
        </p:nvSpPr>
        <p:spPr>
          <a:xfrm>
            <a:off x="457200" y="3703320"/>
            <a:ext cx="2560320" cy="548640"/>
          </a:xfrm>
          <a:prstGeom prst="rect">
            <a:avLst/>
          </a:prstGeom>
          <a:noFill/>
          <a:ln/>
        </p:spPr>
        <p:txBody>
          <a:bodyPr wrap="square" rtlCol="0" anchor="ctr"/>
          <a:lstStyle/>
          <a:p>
            <a:pPr marL="0" indent="0" algn="ctr">
              <a:buNone/>
            </a:pPr>
            <a:r>
              <a:rPr lang="en-US" sz="2400" b="1" dirty="0">
                <a:solidFill>
                  <a:srgbClr val="D4A843"/>
                </a:solidFill>
                <a:latin typeface="Georgia" pitchFamily="34" charset="0"/>
                <a:ea typeface="Georgia" pitchFamily="34" charset="-122"/>
                <a:cs typeface="Georgia" pitchFamily="34" charset="-120"/>
              </a:rPr>
              <a:t>60</a:t>
            </a:r>
            <a:endParaRPr lang="en-US" sz="2400" dirty="0"/>
          </a:p>
        </p:txBody>
      </p:sp>
      <p:sp>
        <p:nvSpPr>
          <p:cNvPr id="7" name="Text 4"/>
          <p:cNvSpPr/>
          <p:nvPr/>
        </p:nvSpPr>
        <p:spPr>
          <a:xfrm>
            <a:off x="457200" y="4206240"/>
            <a:ext cx="25603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v1.35 Enhancements</a:t>
            </a:r>
            <a:endParaRPr lang="en-US" sz="1000" dirty="0"/>
          </a:p>
        </p:txBody>
      </p:sp>
      <p:sp>
        <p:nvSpPr>
          <p:cNvPr id="8" name="Text 5"/>
          <p:cNvSpPr/>
          <p:nvPr/>
        </p:nvSpPr>
        <p:spPr>
          <a:xfrm>
            <a:off x="457200" y="4480560"/>
            <a:ext cx="256032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17 Stable • 19 Beta • 22 Alpha</a:t>
            </a:r>
            <a:endParaRPr lang="en-US" sz="900" dirty="0"/>
          </a:p>
        </p:txBody>
      </p:sp>
      <p:sp>
        <p:nvSpPr>
          <p:cNvPr id="9" name="Shape 6"/>
          <p:cNvSpPr/>
          <p:nvPr/>
        </p:nvSpPr>
        <p:spPr>
          <a:xfrm>
            <a:off x="3291840" y="3657600"/>
            <a:ext cx="2560320" cy="1188720"/>
          </a:xfrm>
          <a:prstGeom prst="rect">
            <a:avLst/>
          </a:prstGeom>
          <a:solidFill>
            <a:srgbClr val="0D1527"/>
          </a:solidFill>
          <a:ln w="12700">
            <a:solidFill>
              <a:srgbClr val="1A2744"/>
            </a:solidFill>
            <a:prstDash val="solid"/>
          </a:ln>
        </p:spPr>
        <p:txBody>
          <a:bodyPr/>
          <a:lstStyle/>
          <a:p>
            <a:endParaRPr lang="en-US"/>
          </a:p>
        </p:txBody>
      </p:sp>
      <p:sp>
        <p:nvSpPr>
          <p:cNvPr id="10" name="Text 7"/>
          <p:cNvSpPr/>
          <p:nvPr/>
        </p:nvSpPr>
        <p:spPr>
          <a:xfrm>
            <a:off x="3291840" y="3703320"/>
            <a:ext cx="2560320" cy="548640"/>
          </a:xfrm>
          <a:prstGeom prst="rect">
            <a:avLst/>
          </a:prstGeom>
          <a:noFill/>
          <a:ln/>
        </p:spPr>
        <p:txBody>
          <a:bodyPr wrap="square" rtlCol="0" anchor="ctr"/>
          <a:lstStyle/>
          <a:p>
            <a:pPr marL="0" indent="0" algn="ctr">
              <a:buNone/>
            </a:pPr>
            <a:r>
              <a:rPr lang="en-US" sz="2400" b="1" dirty="0">
                <a:solidFill>
                  <a:srgbClr val="D4A843"/>
                </a:solidFill>
                <a:latin typeface="Georgia" pitchFamily="34" charset="0"/>
                <a:ea typeface="Georgia" pitchFamily="34" charset="-122"/>
                <a:cs typeface="Georgia" pitchFamily="34" charset="-120"/>
              </a:rPr>
              <a:t>14 mo</a:t>
            </a:r>
            <a:endParaRPr lang="en-US" sz="2400" dirty="0"/>
          </a:p>
        </p:txBody>
      </p:sp>
      <p:sp>
        <p:nvSpPr>
          <p:cNvPr id="11" name="Text 8"/>
          <p:cNvSpPr/>
          <p:nvPr/>
        </p:nvSpPr>
        <p:spPr>
          <a:xfrm>
            <a:off x="3291840" y="4206240"/>
            <a:ext cx="25603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Patch Support</a:t>
            </a:r>
            <a:endParaRPr lang="en-US" sz="1000" dirty="0"/>
          </a:p>
        </p:txBody>
      </p:sp>
      <p:sp>
        <p:nvSpPr>
          <p:cNvPr id="12" name="Text 9"/>
          <p:cNvSpPr/>
          <p:nvPr/>
        </p:nvSpPr>
        <p:spPr>
          <a:xfrm>
            <a:off x="3291840" y="4480560"/>
            <a:ext cx="256032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per release</a:t>
            </a:r>
            <a:endParaRPr lang="en-US" sz="900" dirty="0"/>
          </a:p>
        </p:txBody>
      </p:sp>
      <p:sp>
        <p:nvSpPr>
          <p:cNvPr id="13" name="Shape 10"/>
          <p:cNvSpPr/>
          <p:nvPr/>
        </p:nvSpPr>
        <p:spPr>
          <a:xfrm>
            <a:off x="6126480" y="3657600"/>
            <a:ext cx="2560320" cy="1188720"/>
          </a:xfrm>
          <a:prstGeom prst="rect">
            <a:avLst/>
          </a:prstGeom>
          <a:solidFill>
            <a:srgbClr val="0D1527"/>
          </a:solidFill>
          <a:ln w="12700">
            <a:solidFill>
              <a:srgbClr val="1A2744"/>
            </a:solidFill>
            <a:prstDash val="solid"/>
          </a:ln>
        </p:spPr>
        <p:txBody>
          <a:bodyPr/>
          <a:lstStyle/>
          <a:p>
            <a:endParaRPr lang="en-US"/>
          </a:p>
        </p:txBody>
      </p:sp>
      <p:sp>
        <p:nvSpPr>
          <p:cNvPr id="14" name="Text 11"/>
          <p:cNvSpPr/>
          <p:nvPr/>
        </p:nvSpPr>
        <p:spPr>
          <a:xfrm>
            <a:off x="6126480" y="3703320"/>
            <a:ext cx="2560320" cy="548640"/>
          </a:xfrm>
          <a:prstGeom prst="rect">
            <a:avLst/>
          </a:prstGeom>
          <a:noFill/>
          <a:ln/>
        </p:spPr>
        <p:txBody>
          <a:bodyPr wrap="square" rtlCol="0" anchor="ctr"/>
          <a:lstStyle/>
          <a:p>
            <a:pPr marL="0" indent="0" algn="ctr">
              <a:buNone/>
            </a:pPr>
            <a:r>
              <a:rPr lang="en-US" sz="2400" b="1" dirty="0">
                <a:solidFill>
                  <a:srgbClr val="EF5350"/>
                </a:solidFill>
                <a:latin typeface="Georgia" pitchFamily="34" charset="0"/>
                <a:ea typeface="Georgia" pitchFamily="34" charset="-122"/>
                <a:cs typeface="Georgia" pitchFamily="34" charset="-120"/>
              </a:rPr>
              <a:t>ARCHIVED</a:t>
            </a:r>
            <a:endParaRPr lang="en-US" sz="2400" dirty="0"/>
          </a:p>
        </p:txBody>
      </p:sp>
      <p:sp>
        <p:nvSpPr>
          <p:cNvPr id="15" name="Text 12"/>
          <p:cNvSpPr/>
          <p:nvPr/>
        </p:nvSpPr>
        <p:spPr>
          <a:xfrm>
            <a:off x="6126480" y="4206240"/>
            <a:ext cx="2560320" cy="2743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Ingress-NGINX</a:t>
            </a:r>
            <a:endParaRPr lang="en-US" sz="1000" dirty="0"/>
          </a:p>
        </p:txBody>
      </p:sp>
      <p:sp>
        <p:nvSpPr>
          <p:cNvPr id="16" name="Text 13"/>
          <p:cNvSpPr/>
          <p:nvPr/>
        </p:nvSpPr>
        <p:spPr>
          <a:xfrm>
            <a:off x="6126480" y="4480560"/>
            <a:ext cx="256032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March 2026 — migrate to Gateway API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Is CNCF in charge</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of Kubernetes?</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All 24 Kubernetes Special Interest Groups</a:t>
            </a:r>
            <a:endParaRPr lang="en-US" sz="2000" dirty="0"/>
          </a:p>
        </p:txBody>
      </p:sp>
      <p:sp>
        <p:nvSpPr>
          <p:cNvPr id="3" name="Text 1"/>
          <p:cNvSpPr/>
          <p:nvPr/>
        </p:nvSpPr>
        <p:spPr>
          <a:xfrm>
            <a:off x="457200" y="594360"/>
            <a:ext cx="822960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SIGs own Kubernetes. They write the code. They manage the releases. They make the decisions.</a:t>
            </a:r>
            <a:endParaRPr lang="en-US" sz="1100" dirty="0"/>
          </a:p>
        </p:txBody>
      </p:sp>
      <p:sp>
        <p:nvSpPr>
          <p:cNvPr id="4" name="Text 2"/>
          <p:cNvSpPr/>
          <p:nvPr/>
        </p:nvSpPr>
        <p:spPr>
          <a:xfrm>
            <a:off x="274320" y="100584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API Machinery</a:t>
            </a:r>
            <a:r>
              <a:rPr lang="en-US" sz="850" dirty="0">
                <a:solidFill>
                  <a:srgbClr val="78909C"/>
                </a:solidFill>
                <a:latin typeface="Calibri" pitchFamily="34" charset="0"/>
                <a:ea typeface="Calibri" pitchFamily="34" charset="-122"/>
                <a:cs typeface="Calibri" pitchFamily="34" charset="-120"/>
              </a:rPr>
              <a:t>  Kubernetes API server, libraries, tools</a:t>
            </a:r>
            <a:endParaRPr lang="en-US" sz="1000" dirty="0"/>
          </a:p>
        </p:txBody>
      </p:sp>
      <p:sp>
        <p:nvSpPr>
          <p:cNvPr id="5" name="Text 3"/>
          <p:cNvSpPr/>
          <p:nvPr/>
        </p:nvSpPr>
        <p:spPr>
          <a:xfrm>
            <a:off x="274320" y="138988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Apps</a:t>
            </a:r>
            <a:r>
              <a:rPr lang="en-US" sz="850" dirty="0">
                <a:solidFill>
                  <a:srgbClr val="78909C"/>
                </a:solidFill>
                <a:latin typeface="Calibri" pitchFamily="34" charset="0"/>
                <a:ea typeface="Calibri" pitchFamily="34" charset="-122"/>
                <a:cs typeface="Calibri" pitchFamily="34" charset="-120"/>
              </a:rPr>
              <a:t>  Deployments, DaemonSets, StatefulSets, Jobs</a:t>
            </a:r>
            <a:endParaRPr lang="en-US" sz="1000" dirty="0"/>
          </a:p>
        </p:txBody>
      </p:sp>
      <p:sp>
        <p:nvSpPr>
          <p:cNvPr id="6" name="Text 4"/>
          <p:cNvSpPr/>
          <p:nvPr/>
        </p:nvSpPr>
        <p:spPr>
          <a:xfrm>
            <a:off x="274320" y="177393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Architecture</a:t>
            </a:r>
            <a:r>
              <a:rPr lang="en-US" sz="850" dirty="0">
                <a:solidFill>
                  <a:srgbClr val="78909C"/>
                </a:solidFill>
                <a:latin typeface="Calibri" pitchFamily="34" charset="0"/>
                <a:ea typeface="Calibri" pitchFamily="34" charset="-122"/>
                <a:cs typeface="Calibri" pitchFamily="34" charset="-120"/>
              </a:rPr>
              <a:t>  KEP process, API review, conformance</a:t>
            </a:r>
            <a:endParaRPr lang="en-US" sz="1000" dirty="0"/>
          </a:p>
        </p:txBody>
      </p:sp>
      <p:sp>
        <p:nvSpPr>
          <p:cNvPr id="7" name="Text 5"/>
          <p:cNvSpPr/>
          <p:nvPr/>
        </p:nvSpPr>
        <p:spPr>
          <a:xfrm>
            <a:off x="274320" y="2157984"/>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Auth</a:t>
            </a:r>
            <a:r>
              <a:rPr lang="en-US" sz="850" dirty="0">
                <a:solidFill>
                  <a:srgbClr val="78909C"/>
                </a:solidFill>
                <a:latin typeface="Calibri" pitchFamily="34" charset="0"/>
                <a:ea typeface="Calibri" pitchFamily="34" charset="-122"/>
                <a:cs typeface="Calibri" pitchFamily="34" charset="-120"/>
              </a:rPr>
              <a:t>  Authentication, authorization, security policy</a:t>
            </a:r>
            <a:endParaRPr lang="en-US" sz="1000" dirty="0"/>
          </a:p>
        </p:txBody>
      </p:sp>
      <p:sp>
        <p:nvSpPr>
          <p:cNvPr id="8" name="Text 6"/>
          <p:cNvSpPr/>
          <p:nvPr/>
        </p:nvSpPr>
        <p:spPr>
          <a:xfrm>
            <a:off x="274320" y="2542032"/>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Autoscaling</a:t>
            </a:r>
            <a:r>
              <a:rPr lang="en-US" sz="850" dirty="0">
                <a:solidFill>
                  <a:srgbClr val="78909C"/>
                </a:solidFill>
                <a:latin typeface="Calibri" pitchFamily="34" charset="0"/>
                <a:ea typeface="Calibri" pitchFamily="34" charset="-122"/>
                <a:cs typeface="Calibri" pitchFamily="34" charset="-120"/>
              </a:rPr>
              <a:t>  HPA, VPA, cluster autoscaler</a:t>
            </a:r>
            <a:endParaRPr lang="en-US" sz="1000" dirty="0"/>
          </a:p>
        </p:txBody>
      </p:sp>
      <p:sp>
        <p:nvSpPr>
          <p:cNvPr id="9" name="Text 7"/>
          <p:cNvSpPr/>
          <p:nvPr/>
        </p:nvSpPr>
        <p:spPr>
          <a:xfrm>
            <a:off x="274320" y="292608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CLI</a:t>
            </a:r>
            <a:r>
              <a:rPr lang="en-US" sz="850" dirty="0">
                <a:solidFill>
                  <a:srgbClr val="78909C"/>
                </a:solidFill>
                <a:latin typeface="Calibri" pitchFamily="34" charset="0"/>
                <a:ea typeface="Calibri" pitchFamily="34" charset="-122"/>
                <a:cs typeface="Calibri" pitchFamily="34" charset="-120"/>
              </a:rPr>
              <a:t>  kubectl, kustomize CLI experience</a:t>
            </a:r>
            <a:endParaRPr lang="en-US" sz="1000" dirty="0"/>
          </a:p>
        </p:txBody>
      </p:sp>
      <p:sp>
        <p:nvSpPr>
          <p:cNvPr id="10" name="Text 8"/>
          <p:cNvSpPr/>
          <p:nvPr/>
        </p:nvSpPr>
        <p:spPr>
          <a:xfrm>
            <a:off x="274320" y="331012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Cloud Provider</a:t>
            </a:r>
            <a:r>
              <a:rPr lang="en-US" sz="850" dirty="0">
                <a:solidFill>
                  <a:srgbClr val="78909C"/>
                </a:solidFill>
                <a:latin typeface="Calibri" pitchFamily="34" charset="0"/>
                <a:ea typeface="Calibri" pitchFamily="34" charset="-122"/>
                <a:cs typeface="Calibri" pitchFamily="34" charset="-120"/>
              </a:rPr>
              <a:t>  Cloud provider integrations</a:t>
            </a:r>
            <a:endParaRPr lang="en-US" sz="1000" dirty="0"/>
          </a:p>
        </p:txBody>
      </p:sp>
      <p:sp>
        <p:nvSpPr>
          <p:cNvPr id="11" name="Text 9"/>
          <p:cNvSpPr/>
          <p:nvPr/>
        </p:nvSpPr>
        <p:spPr>
          <a:xfrm>
            <a:off x="274320" y="369417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Cluster Lifecycle</a:t>
            </a:r>
            <a:r>
              <a:rPr lang="en-US" sz="850" dirty="0">
                <a:solidFill>
                  <a:srgbClr val="78909C"/>
                </a:solidFill>
                <a:latin typeface="Calibri" pitchFamily="34" charset="0"/>
                <a:ea typeface="Calibri" pitchFamily="34" charset="-122"/>
                <a:cs typeface="Calibri" pitchFamily="34" charset="-120"/>
              </a:rPr>
              <a:t>  kubeadm, Cluster API, minikube, kind</a:t>
            </a:r>
            <a:endParaRPr lang="en-US" sz="1000" dirty="0"/>
          </a:p>
        </p:txBody>
      </p:sp>
      <p:sp>
        <p:nvSpPr>
          <p:cNvPr id="12" name="Text 10"/>
          <p:cNvSpPr/>
          <p:nvPr/>
        </p:nvSpPr>
        <p:spPr>
          <a:xfrm>
            <a:off x="3200400" y="100584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Contributor Experience</a:t>
            </a:r>
            <a:r>
              <a:rPr lang="en-US" sz="850" dirty="0">
                <a:solidFill>
                  <a:srgbClr val="78909C"/>
                </a:solidFill>
                <a:latin typeface="Calibri" pitchFamily="34" charset="0"/>
                <a:ea typeface="Calibri" pitchFamily="34" charset="-122"/>
                <a:cs typeface="Calibri" pitchFamily="34" charset="-120"/>
              </a:rPr>
              <a:t>  New contributors, GitHub management</a:t>
            </a:r>
            <a:endParaRPr lang="en-US" sz="1000" dirty="0"/>
          </a:p>
        </p:txBody>
      </p:sp>
      <p:sp>
        <p:nvSpPr>
          <p:cNvPr id="13" name="Text 11"/>
          <p:cNvSpPr/>
          <p:nvPr/>
        </p:nvSpPr>
        <p:spPr>
          <a:xfrm>
            <a:off x="3200400" y="138988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Docs</a:t>
            </a:r>
            <a:r>
              <a:rPr lang="en-US" sz="850" dirty="0">
                <a:solidFill>
                  <a:srgbClr val="78909C"/>
                </a:solidFill>
                <a:latin typeface="Calibri" pitchFamily="34" charset="0"/>
                <a:ea typeface="Calibri" pitchFamily="34" charset="-122"/>
                <a:cs typeface="Calibri" pitchFamily="34" charset="-120"/>
              </a:rPr>
              <a:t>  kubernetes.io documentation</a:t>
            </a:r>
            <a:endParaRPr lang="en-US" sz="1000" dirty="0"/>
          </a:p>
        </p:txBody>
      </p:sp>
      <p:sp>
        <p:nvSpPr>
          <p:cNvPr id="14" name="Text 12"/>
          <p:cNvSpPr/>
          <p:nvPr/>
        </p:nvSpPr>
        <p:spPr>
          <a:xfrm>
            <a:off x="3200400" y="177393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etcd</a:t>
            </a:r>
            <a:r>
              <a:rPr lang="en-US" sz="850" dirty="0">
                <a:solidFill>
                  <a:srgbClr val="78909C"/>
                </a:solidFill>
                <a:latin typeface="Calibri" pitchFamily="34" charset="0"/>
                <a:ea typeface="Calibri" pitchFamily="34" charset="-122"/>
                <a:cs typeface="Calibri" pitchFamily="34" charset="-120"/>
              </a:rPr>
              <a:t>  etcd datastore (newest SIG, Nov 2023)</a:t>
            </a:r>
            <a:endParaRPr lang="en-US" sz="1000" dirty="0"/>
          </a:p>
        </p:txBody>
      </p:sp>
      <p:sp>
        <p:nvSpPr>
          <p:cNvPr id="15" name="Text 13"/>
          <p:cNvSpPr/>
          <p:nvPr/>
        </p:nvSpPr>
        <p:spPr>
          <a:xfrm>
            <a:off x="3200400" y="2157984"/>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Instrumentation</a:t>
            </a:r>
            <a:r>
              <a:rPr lang="en-US" sz="850" dirty="0">
                <a:solidFill>
                  <a:srgbClr val="78909C"/>
                </a:solidFill>
                <a:latin typeface="Calibri" pitchFamily="34" charset="0"/>
                <a:ea typeface="Calibri" pitchFamily="34" charset="-122"/>
                <a:cs typeface="Calibri" pitchFamily="34" charset="-120"/>
              </a:rPr>
              <a:t>  Metrics, logging, tracing</a:t>
            </a:r>
            <a:endParaRPr lang="en-US" sz="1000" dirty="0"/>
          </a:p>
        </p:txBody>
      </p:sp>
      <p:sp>
        <p:nvSpPr>
          <p:cNvPr id="16" name="Text 14"/>
          <p:cNvSpPr/>
          <p:nvPr/>
        </p:nvSpPr>
        <p:spPr>
          <a:xfrm>
            <a:off x="3200400" y="2542032"/>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K8s Infra</a:t>
            </a:r>
            <a:r>
              <a:rPr lang="en-US" sz="850" dirty="0">
                <a:solidFill>
                  <a:srgbClr val="78909C"/>
                </a:solidFill>
                <a:latin typeface="Calibri" pitchFamily="34" charset="0"/>
                <a:ea typeface="Calibri" pitchFamily="34" charset="-122"/>
                <a:cs typeface="Calibri" pitchFamily="34" charset="-120"/>
              </a:rPr>
              <a:t>  Build/release infra, container registry</a:t>
            </a:r>
            <a:endParaRPr lang="en-US" sz="1000" dirty="0"/>
          </a:p>
        </p:txBody>
      </p:sp>
      <p:sp>
        <p:nvSpPr>
          <p:cNvPr id="17" name="Text 15"/>
          <p:cNvSpPr/>
          <p:nvPr/>
        </p:nvSpPr>
        <p:spPr>
          <a:xfrm>
            <a:off x="3200400" y="292608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Multicluster</a:t>
            </a:r>
            <a:r>
              <a:rPr lang="en-US" sz="850" dirty="0">
                <a:solidFill>
                  <a:srgbClr val="78909C"/>
                </a:solidFill>
                <a:latin typeface="Calibri" pitchFamily="34" charset="0"/>
                <a:ea typeface="Calibri" pitchFamily="34" charset="-122"/>
                <a:cs typeface="Calibri" pitchFamily="34" charset="-120"/>
              </a:rPr>
              <a:t>  Multi-cluster tools and APIs</a:t>
            </a:r>
            <a:endParaRPr lang="en-US" sz="1000" dirty="0"/>
          </a:p>
        </p:txBody>
      </p:sp>
      <p:sp>
        <p:nvSpPr>
          <p:cNvPr id="18" name="Text 16"/>
          <p:cNvSpPr/>
          <p:nvPr/>
        </p:nvSpPr>
        <p:spPr>
          <a:xfrm>
            <a:off x="3200400" y="331012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Network</a:t>
            </a:r>
            <a:r>
              <a:rPr lang="en-US" sz="850" dirty="0">
                <a:solidFill>
                  <a:srgbClr val="78909C"/>
                </a:solidFill>
                <a:latin typeface="Calibri" pitchFamily="34" charset="0"/>
                <a:ea typeface="Calibri" pitchFamily="34" charset="-122"/>
                <a:cs typeface="Calibri" pitchFamily="34" charset="-120"/>
              </a:rPr>
              <a:t>  Networking, services, DNS, Gateway API</a:t>
            </a:r>
            <a:endParaRPr lang="en-US" sz="1000" dirty="0"/>
          </a:p>
        </p:txBody>
      </p:sp>
      <p:sp>
        <p:nvSpPr>
          <p:cNvPr id="19" name="Text 17"/>
          <p:cNvSpPr/>
          <p:nvPr/>
        </p:nvSpPr>
        <p:spPr>
          <a:xfrm>
            <a:off x="3200400" y="369417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Node</a:t>
            </a:r>
            <a:r>
              <a:rPr lang="en-US" sz="850" dirty="0">
                <a:solidFill>
                  <a:srgbClr val="78909C"/>
                </a:solidFill>
                <a:latin typeface="Calibri" pitchFamily="34" charset="0"/>
                <a:ea typeface="Calibri" pitchFamily="34" charset="-122"/>
                <a:cs typeface="Calibri" pitchFamily="34" charset="-120"/>
              </a:rPr>
              <a:t>  kubelet, container runtime, pod lifecycle</a:t>
            </a:r>
            <a:endParaRPr lang="en-US" sz="1000" dirty="0"/>
          </a:p>
        </p:txBody>
      </p:sp>
      <p:sp>
        <p:nvSpPr>
          <p:cNvPr id="20" name="Text 18"/>
          <p:cNvSpPr/>
          <p:nvPr/>
        </p:nvSpPr>
        <p:spPr>
          <a:xfrm>
            <a:off x="6126480" y="100584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Release</a:t>
            </a:r>
            <a:r>
              <a:rPr lang="en-US" sz="850" dirty="0">
                <a:solidFill>
                  <a:srgbClr val="78909C"/>
                </a:solidFill>
                <a:latin typeface="Calibri" pitchFamily="34" charset="0"/>
                <a:ea typeface="Calibri" pitchFamily="34" charset="-122"/>
                <a:cs typeface="Calibri" pitchFamily="34" charset="-120"/>
              </a:rPr>
              <a:t>  Release process, cadence, tooling</a:t>
            </a:r>
            <a:endParaRPr lang="en-US" sz="1000" dirty="0"/>
          </a:p>
        </p:txBody>
      </p:sp>
      <p:sp>
        <p:nvSpPr>
          <p:cNvPr id="21" name="Text 19"/>
          <p:cNvSpPr/>
          <p:nvPr/>
        </p:nvSpPr>
        <p:spPr>
          <a:xfrm>
            <a:off x="6126480" y="138988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Scalability</a:t>
            </a:r>
            <a:r>
              <a:rPr lang="en-US" sz="850" dirty="0">
                <a:solidFill>
                  <a:srgbClr val="78909C"/>
                </a:solidFill>
                <a:latin typeface="Calibri" pitchFamily="34" charset="0"/>
                <a:ea typeface="Calibri" pitchFamily="34" charset="-122"/>
                <a:cs typeface="Calibri" pitchFamily="34" charset="-120"/>
              </a:rPr>
              <a:t>  Performance, scalability testing</a:t>
            </a:r>
            <a:endParaRPr lang="en-US" sz="1000" dirty="0"/>
          </a:p>
        </p:txBody>
      </p:sp>
      <p:sp>
        <p:nvSpPr>
          <p:cNvPr id="22" name="Text 20"/>
          <p:cNvSpPr/>
          <p:nvPr/>
        </p:nvSpPr>
        <p:spPr>
          <a:xfrm>
            <a:off x="6126480" y="177393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Scheduling</a:t>
            </a:r>
            <a:r>
              <a:rPr lang="en-US" sz="850" dirty="0">
                <a:solidFill>
                  <a:srgbClr val="78909C"/>
                </a:solidFill>
                <a:latin typeface="Calibri" pitchFamily="34" charset="0"/>
                <a:ea typeface="Calibri" pitchFamily="34" charset="-122"/>
                <a:cs typeface="Calibri" pitchFamily="34" charset="-120"/>
              </a:rPr>
              <a:t>  kube-scheduler, pod scheduling</a:t>
            </a:r>
            <a:endParaRPr lang="en-US" sz="1000" dirty="0"/>
          </a:p>
        </p:txBody>
      </p:sp>
      <p:sp>
        <p:nvSpPr>
          <p:cNvPr id="23" name="Text 21"/>
          <p:cNvSpPr/>
          <p:nvPr/>
        </p:nvSpPr>
        <p:spPr>
          <a:xfrm>
            <a:off x="6126480" y="2157984"/>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Security</a:t>
            </a:r>
            <a:r>
              <a:rPr lang="en-US" sz="850" dirty="0">
                <a:solidFill>
                  <a:srgbClr val="78909C"/>
                </a:solidFill>
                <a:latin typeface="Calibri" pitchFamily="34" charset="0"/>
                <a:ea typeface="Calibri" pitchFamily="34" charset="-122"/>
                <a:cs typeface="Calibri" pitchFamily="34" charset="-120"/>
              </a:rPr>
              <a:t>  Vulnerability response, security tooling</a:t>
            </a:r>
            <a:endParaRPr lang="en-US" sz="1000" dirty="0"/>
          </a:p>
        </p:txBody>
      </p:sp>
      <p:sp>
        <p:nvSpPr>
          <p:cNvPr id="24" name="Text 22"/>
          <p:cNvSpPr/>
          <p:nvPr/>
        </p:nvSpPr>
        <p:spPr>
          <a:xfrm>
            <a:off x="6126480" y="2542032"/>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Storage</a:t>
            </a:r>
            <a:r>
              <a:rPr lang="en-US" sz="850" dirty="0">
                <a:solidFill>
                  <a:srgbClr val="78909C"/>
                </a:solidFill>
                <a:latin typeface="Calibri" pitchFamily="34" charset="0"/>
                <a:ea typeface="Calibri" pitchFamily="34" charset="-122"/>
                <a:cs typeface="Calibri" pitchFamily="34" charset="-120"/>
              </a:rPr>
              <a:t>  CSI, persistent volumes, storage classes</a:t>
            </a:r>
            <a:endParaRPr lang="en-US" sz="1000" dirty="0"/>
          </a:p>
        </p:txBody>
      </p:sp>
      <p:sp>
        <p:nvSpPr>
          <p:cNvPr id="25" name="Text 23"/>
          <p:cNvSpPr/>
          <p:nvPr/>
        </p:nvSpPr>
        <p:spPr>
          <a:xfrm>
            <a:off x="6126480" y="2926080"/>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Testing</a:t>
            </a:r>
            <a:r>
              <a:rPr lang="en-US" sz="850" dirty="0">
                <a:solidFill>
                  <a:srgbClr val="78909C"/>
                </a:solidFill>
                <a:latin typeface="Calibri" pitchFamily="34" charset="0"/>
                <a:ea typeface="Calibri" pitchFamily="34" charset="-122"/>
                <a:cs typeface="Calibri" pitchFamily="34" charset="-120"/>
              </a:rPr>
              <a:t>  Test infra, CI/CD, Prow, TestGrid</a:t>
            </a:r>
            <a:endParaRPr lang="en-US" sz="1000" dirty="0"/>
          </a:p>
        </p:txBody>
      </p:sp>
      <p:sp>
        <p:nvSpPr>
          <p:cNvPr id="26" name="Text 24"/>
          <p:cNvSpPr/>
          <p:nvPr/>
        </p:nvSpPr>
        <p:spPr>
          <a:xfrm>
            <a:off x="6126480" y="3310128"/>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UI</a:t>
            </a:r>
            <a:r>
              <a:rPr lang="en-US" sz="850" dirty="0">
                <a:solidFill>
                  <a:srgbClr val="78909C"/>
                </a:solidFill>
                <a:latin typeface="Calibri" pitchFamily="34" charset="0"/>
                <a:ea typeface="Calibri" pitchFamily="34" charset="-122"/>
                <a:cs typeface="Calibri" pitchFamily="34" charset="-120"/>
              </a:rPr>
              <a:t>  Kubernetes Dashboard</a:t>
            </a:r>
            <a:endParaRPr lang="en-US" sz="1000" dirty="0"/>
          </a:p>
        </p:txBody>
      </p:sp>
      <p:sp>
        <p:nvSpPr>
          <p:cNvPr id="27" name="Text 25"/>
          <p:cNvSpPr/>
          <p:nvPr/>
        </p:nvSpPr>
        <p:spPr>
          <a:xfrm>
            <a:off x="6126480" y="3694176"/>
            <a:ext cx="2834640" cy="384048"/>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Windows</a:t>
            </a:r>
            <a:r>
              <a:rPr lang="en-US" sz="850" dirty="0">
                <a:solidFill>
                  <a:srgbClr val="78909C"/>
                </a:solidFill>
                <a:latin typeface="Calibri" pitchFamily="34" charset="0"/>
                <a:ea typeface="Calibri" pitchFamily="34" charset="-122"/>
                <a:cs typeface="Calibri" pitchFamily="34" charset="-120"/>
              </a:rPr>
              <a:t>  Windows container support</a:t>
            </a:r>
            <a:endParaRPr lang="en-US" sz="1000" dirty="0"/>
          </a:p>
        </p:txBody>
      </p:sp>
      <p:sp>
        <p:nvSpPr>
          <p:cNvPr id="28" name="Shape 26"/>
          <p:cNvSpPr/>
          <p:nvPr/>
        </p:nvSpPr>
        <p:spPr>
          <a:xfrm>
            <a:off x="274320" y="4160520"/>
            <a:ext cx="8595360" cy="777240"/>
          </a:xfrm>
          <a:prstGeom prst="rect">
            <a:avLst/>
          </a:prstGeom>
          <a:solidFill>
            <a:srgbClr val="0D1527"/>
          </a:solidFill>
          <a:ln w="12700">
            <a:solidFill>
              <a:srgbClr val="1A2744"/>
            </a:solidFill>
            <a:prstDash val="solid"/>
          </a:ln>
        </p:spPr>
        <p:txBody>
          <a:bodyPr/>
          <a:lstStyle/>
          <a:p>
            <a:endParaRPr lang="en-US"/>
          </a:p>
        </p:txBody>
      </p:sp>
      <p:sp>
        <p:nvSpPr>
          <p:cNvPr id="29" name="Text 27"/>
          <p:cNvSpPr/>
          <p:nvPr/>
        </p:nvSpPr>
        <p:spPr>
          <a:xfrm>
            <a:off x="457200" y="4206240"/>
            <a:ext cx="8229600" cy="640080"/>
          </a:xfrm>
          <a:prstGeom prst="rect">
            <a:avLst/>
          </a:prstGeom>
          <a:noFill/>
          <a:ln/>
        </p:spPr>
        <p:txBody>
          <a:bodyPr wrap="square" rtlCol="0" anchor="ctr"/>
          <a:lstStyle/>
          <a:p>
            <a:pPr marL="0" indent="0">
              <a:buNone/>
            </a:pPr>
            <a:r>
              <a:rPr lang="en-US" sz="1000" b="1" dirty="0">
                <a:solidFill>
                  <a:srgbClr val="D4A843"/>
                </a:solidFill>
                <a:latin typeface="Calibri" pitchFamily="34" charset="0"/>
                <a:ea typeface="Calibri" pitchFamily="34" charset="-122"/>
                <a:cs typeface="Calibri" pitchFamily="34" charset="-120"/>
              </a:rPr>
              <a:t>Steering Committee</a:t>
            </a:r>
            <a:r>
              <a:rPr lang="en-US" sz="1000" dirty="0">
                <a:solidFill>
                  <a:srgbClr val="B0BEC5"/>
                </a:solidFill>
                <a:latin typeface="Calibri" pitchFamily="34" charset="0"/>
                <a:ea typeface="Calibri" pitchFamily="34" charset="-122"/>
                <a:cs typeface="Calibri" pitchFamily="34" charset="-120"/>
              </a:rPr>
              <a:t> (7 elected members) handles governance. Delegates ALL technical authority to SIGs.  |  </a:t>
            </a:r>
            <a:r>
              <a:rPr lang="en-US" sz="1000" b="1" dirty="0">
                <a:solidFill>
                  <a:srgbClr val="326CE5"/>
                </a:solidFill>
                <a:latin typeface="Calibri" pitchFamily="34" charset="0"/>
                <a:ea typeface="Calibri" pitchFamily="34" charset="-122"/>
                <a:cs typeface="Calibri" pitchFamily="34" charset="-120"/>
              </a:rPr>
              <a:t>CNCF = Landlord</a:t>
            </a:r>
            <a:r>
              <a:rPr lang="en-US" sz="1000" dirty="0">
                <a:solidFill>
                  <a:srgbClr val="B0BEC5"/>
                </a:solidFill>
                <a:latin typeface="Calibri" pitchFamily="34" charset="0"/>
                <a:ea typeface="Calibri" pitchFamily="34" charset="-122"/>
                <a:cs typeface="Calibri" pitchFamily="34" charset="-120"/>
              </a:rPr>
              <a:t> (trademark, conformance, KubeCon). Can't tell K8s how to arrange its furniture.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Inside the SIGs: Subprojects</a:t>
            </a:r>
            <a:endParaRPr lang="en-US" sz="2200" dirty="0"/>
          </a:p>
        </p:txBody>
      </p:sp>
      <p:sp>
        <p:nvSpPr>
          <p:cNvPr id="3" name="Shape 1"/>
          <p:cNvSpPr/>
          <p:nvPr/>
        </p:nvSpPr>
        <p:spPr>
          <a:xfrm>
            <a:off x="365760" y="914400"/>
            <a:ext cx="3931920" cy="3291840"/>
          </a:xfrm>
          <a:prstGeom prst="rect">
            <a:avLst/>
          </a:prstGeom>
          <a:solidFill>
            <a:srgbClr val="0D1527"/>
          </a:solidFill>
          <a:ln w="12700">
            <a:solidFill>
              <a:srgbClr val="1A2744"/>
            </a:solidFill>
            <a:prstDash val="solid"/>
          </a:ln>
        </p:spPr>
        <p:txBody>
          <a:bodyPr/>
          <a:lstStyle/>
          <a:p>
            <a:endParaRPr lang="en-US"/>
          </a:p>
        </p:txBody>
      </p:sp>
      <p:sp>
        <p:nvSpPr>
          <p:cNvPr id="4" name="Text 2"/>
          <p:cNvSpPr/>
          <p:nvPr/>
        </p:nvSpPr>
        <p:spPr>
          <a:xfrm>
            <a:off x="548640" y="1005840"/>
            <a:ext cx="3657600" cy="365760"/>
          </a:xfrm>
          <a:prstGeom prst="rect">
            <a:avLst/>
          </a:prstGeom>
          <a:noFill/>
          <a:ln/>
        </p:spPr>
        <p:txBody>
          <a:bodyPr wrap="square" rtlCol="0" anchor="ctr"/>
          <a:lstStyle/>
          <a:p>
            <a:pPr marL="0" indent="0">
              <a:buNone/>
            </a:pPr>
            <a:r>
              <a:rPr lang="en-US" sz="1600" b="1" dirty="0">
                <a:solidFill>
                  <a:srgbClr val="326CE5"/>
                </a:solidFill>
                <a:latin typeface="Georgia" pitchFamily="34" charset="0"/>
                <a:ea typeface="Georgia" pitchFamily="34" charset="-122"/>
                <a:cs typeface="Georgia" pitchFamily="34" charset="-120"/>
              </a:rPr>
              <a:t>Core Subprojects</a:t>
            </a:r>
            <a:endParaRPr lang="en-US" sz="1600" dirty="0"/>
          </a:p>
        </p:txBody>
      </p:sp>
      <p:sp>
        <p:nvSpPr>
          <p:cNvPr id="5" name="Text 3"/>
          <p:cNvSpPr/>
          <p:nvPr/>
        </p:nvSpPr>
        <p:spPr>
          <a:xfrm>
            <a:off x="548640" y="1325880"/>
            <a:ext cx="3657600" cy="274320"/>
          </a:xfrm>
          <a:prstGeom prst="rect">
            <a:avLst/>
          </a:prstGeom>
          <a:noFill/>
          <a:ln/>
        </p:spPr>
        <p:txBody>
          <a:bodyPr wrap="square" rtlCol="0" anchor="ctr"/>
          <a:lstStyle/>
          <a:p>
            <a:pPr marL="0" indent="0">
              <a:buNone/>
            </a:pPr>
            <a:r>
              <a:rPr lang="en-US" sz="1000" dirty="0">
                <a:solidFill>
                  <a:srgbClr val="D4A843"/>
                </a:solidFill>
                <a:latin typeface="Consolas" pitchFamily="34" charset="0"/>
                <a:ea typeface="Consolas" pitchFamily="34" charset="-122"/>
                <a:cs typeface="Consolas" pitchFamily="34" charset="-120"/>
              </a:rPr>
              <a:t>github.com/kubernetes</a:t>
            </a:r>
            <a:endParaRPr lang="en-US" sz="1000" dirty="0"/>
          </a:p>
        </p:txBody>
      </p:sp>
      <p:sp>
        <p:nvSpPr>
          <p:cNvPr id="6" name="Text 4"/>
          <p:cNvSpPr/>
          <p:nvPr/>
        </p:nvSpPr>
        <p:spPr>
          <a:xfrm>
            <a:off x="548640" y="1691640"/>
            <a:ext cx="3566160" cy="228600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Ships in every Kubernetes release</a:t>
            </a:r>
            <a:endParaRPr lang="en-US" sz="1100" dirty="0"/>
          </a:p>
          <a:p>
            <a:pPr marL="0" indent="0">
              <a:buNone/>
            </a:pP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kube-apiserver, kubelet, kubectl,</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kube-scheduler, kube-controller-manager,</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kube-proxy</a:t>
            </a:r>
            <a:endParaRPr lang="en-US" sz="1100" dirty="0"/>
          </a:p>
          <a:p>
            <a:pPr marL="0" indent="0">
              <a:buNone/>
            </a:pPr>
            <a:endParaRPr lang="en-US" sz="1100" dirty="0"/>
          </a:p>
          <a:p>
            <a:pPr marL="0" indent="0">
              <a:buNone/>
            </a:pPr>
            <a:endParaRPr lang="en-US" sz="1100" dirty="0"/>
          </a:p>
          <a:p>
            <a:pPr marL="0" indent="0">
              <a:buNone/>
            </a:pPr>
            <a:r>
              <a:rPr lang="en-US" sz="1000" dirty="0">
                <a:solidFill>
                  <a:srgbClr val="78909C"/>
                </a:solidFill>
                <a:latin typeface="Calibri" pitchFamily="34" charset="0"/>
                <a:ea typeface="Calibri" pitchFamily="34" charset="-122"/>
                <a:cs typeface="Calibri" pitchFamily="34" charset="-120"/>
              </a:rPr>
              <a:t>Version = Kubernetes version (e.g. v1.35.1)</a:t>
            </a:r>
            <a:endParaRPr lang="en-US" sz="1100" dirty="0"/>
          </a:p>
        </p:txBody>
      </p:sp>
      <p:sp>
        <p:nvSpPr>
          <p:cNvPr id="7" name="Shape 5"/>
          <p:cNvSpPr/>
          <p:nvPr/>
        </p:nvSpPr>
        <p:spPr>
          <a:xfrm>
            <a:off x="4846320" y="914400"/>
            <a:ext cx="3931920" cy="3291840"/>
          </a:xfrm>
          <a:prstGeom prst="rect">
            <a:avLst/>
          </a:prstGeom>
          <a:solidFill>
            <a:srgbClr val="0D1527"/>
          </a:solidFill>
          <a:ln w="12700">
            <a:solidFill>
              <a:srgbClr val="1A2744"/>
            </a:solidFill>
            <a:prstDash val="solid"/>
          </a:ln>
        </p:spPr>
        <p:txBody>
          <a:bodyPr/>
          <a:lstStyle/>
          <a:p>
            <a:endParaRPr lang="en-US"/>
          </a:p>
        </p:txBody>
      </p:sp>
      <p:sp>
        <p:nvSpPr>
          <p:cNvPr id="8" name="Text 6"/>
          <p:cNvSpPr/>
          <p:nvPr/>
        </p:nvSpPr>
        <p:spPr>
          <a:xfrm>
            <a:off x="5029200" y="1005840"/>
            <a:ext cx="3657600" cy="365760"/>
          </a:xfrm>
          <a:prstGeom prst="rect">
            <a:avLst/>
          </a:prstGeom>
          <a:noFill/>
          <a:ln/>
        </p:spPr>
        <p:txBody>
          <a:bodyPr wrap="square" rtlCol="0" anchor="ctr"/>
          <a:lstStyle/>
          <a:p>
            <a:pPr marL="0" indent="0">
              <a:buNone/>
            </a:pPr>
            <a:r>
              <a:rPr lang="en-US" sz="1600" b="1" dirty="0">
                <a:solidFill>
                  <a:srgbClr val="26A69A"/>
                </a:solidFill>
                <a:latin typeface="Georgia" pitchFamily="34" charset="0"/>
                <a:ea typeface="Georgia" pitchFamily="34" charset="-122"/>
                <a:cs typeface="Georgia" pitchFamily="34" charset="-120"/>
              </a:rPr>
              <a:t>SIG Subprojects</a:t>
            </a:r>
            <a:endParaRPr lang="en-US" sz="1600" dirty="0"/>
          </a:p>
        </p:txBody>
      </p:sp>
      <p:sp>
        <p:nvSpPr>
          <p:cNvPr id="9" name="Text 7"/>
          <p:cNvSpPr/>
          <p:nvPr/>
        </p:nvSpPr>
        <p:spPr>
          <a:xfrm>
            <a:off x="5029200" y="1325880"/>
            <a:ext cx="3657600" cy="274320"/>
          </a:xfrm>
          <a:prstGeom prst="rect">
            <a:avLst/>
          </a:prstGeom>
          <a:noFill/>
          <a:ln/>
        </p:spPr>
        <p:txBody>
          <a:bodyPr wrap="square" rtlCol="0" anchor="ctr"/>
          <a:lstStyle/>
          <a:p>
            <a:pPr marL="0" indent="0">
              <a:buNone/>
            </a:pPr>
            <a:r>
              <a:rPr lang="en-US" sz="1000" dirty="0">
                <a:solidFill>
                  <a:srgbClr val="D4A843"/>
                </a:solidFill>
                <a:latin typeface="Consolas" pitchFamily="34" charset="0"/>
                <a:ea typeface="Consolas" pitchFamily="34" charset="-122"/>
                <a:cs typeface="Consolas" pitchFamily="34" charset="-120"/>
              </a:rPr>
              <a:t>github.com/kubernetes-sigs (~200 repos)</a:t>
            </a:r>
            <a:endParaRPr lang="en-US" sz="1000" dirty="0"/>
          </a:p>
        </p:txBody>
      </p:sp>
      <p:sp>
        <p:nvSpPr>
          <p:cNvPr id="10" name="Text 8"/>
          <p:cNvSpPr/>
          <p:nvPr/>
        </p:nvSpPr>
        <p:spPr>
          <a:xfrm>
            <a:off x="5029200" y="1691640"/>
            <a:ext cx="3566160" cy="228600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Official K8s, but release independently</a:t>
            </a:r>
            <a:endParaRPr lang="en-US" sz="1100" dirty="0"/>
          </a:p>
          <a:p>
            <a:pPr marL="0" indent="0">
              <a:buNone/>
            </a:pP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Gateway API (v1.5.1, own GEP process)</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Cluster API, Kustomize, external-dns,</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metrics-server, kind, kueue</a:t>
            </a:r>
            <a:endParaRPr lang="en-US" sz="1100" dirty="0"/>
          </a:p>
          <a:p>
            <a:pPr marL="0" indent="0">
              <a:buNone/>
            </a:pPr>
            <a:endParaRPr lang="en-US" sz="1100" dirty="0"/>
          </a:p>
          <a:p>
            <a:pPr marL="0" indent="0">
              <a:buNone/>
            </a:pPr>
            <a:endParaRPr lang="en-US" sz="1100" dirty="0"/>
          </a:p>
          <a:p>
            <a:pPr marL="0" indent="0">
              <a:buNone/>
            </a:pPr>
            <a:r>
              <a:rPr lang="en-US" sz="1000" dirty="0">
                <a:solidFill>
                  <a:srgbClr val="78909C"/>
                </a:solidFill>
                <a:latin typeface="Calibri" pitchFamily="34" charset="0"/>
                <a:ea typeface="Calibri" pitchFamily="34" charset="-122"/>
                <a:cs typeface="Calibri" pitchFamily="34" charset="-120"/>
              </a:rPr>
              <a:t>Own version, own release cadence, own CRDs</a:t>
            </a:r>
            <a:endParaRPr lang="en-US" sz="1100" dirty="0"/>
          </a:p>
        </p:txBody>
      </p:sp>
      <p:sp>
        <p:nvSpPr>
          <p:cNvPr id="11" name="Shape 9"/>
          <p:cNvSpPr/>
          <p:nvPr/>
        </p:nvSpPr>
        <p:spPr>
          <a:xfrm>
            <a:off x="365760" y="4343400"/>
            <a:ext cx="8412480" cy="594360"/>
          </a:xfrm>
          <a:prstGeom prst="rect">
            <a:avLst/>
          </a:prstGeom>
          <a:solidFill>
            <a:srgbClr val="0D1527"/>
          </a:solidFill>
          <a:ln w="12700">
            <a:solidFill>
              <a:srgbClr val="1A2744"/>
            </a:solidFill>
            <a:prstDash val="solid"/>
          </a:ln>
        </p:spPr>
        <p:txBody>
          <a:bodyPr/>
          <a:lstStyle/>
          <a:p>
            <a:endParaRPr lang="en-US"/>
          </a:p>
        </p:txBody>
      </p:sp>
      <p:sp>
        <p:nvSpPr>
          <p:cNvPr id="12" name="Text 10"/>
          <p:cNvSpPr/>
          <p:nvPr/>
        </p:nvSpPr>
        <p:spPr>
          <a:xfrm>
            <a:off x="548640" y="4389120"/>
            <a:ext cx="8046720" cy="502920"/>
          </a:xfrm>
          <a:prstGeom prst="rect">
            <a:avLst/>
          </a:prstGeom>
          <a:noFill/>
          <a:ln/>
        </p:spPr>
        <p:txBody>
          <a:bodyPr wrap="square" rtlCol="0" anchor="ctr"/>
          <a:lstStyle/>
          <a:p>
            <a:pPr marL="0" indent="0">
              <a:buNone/>
            </a:pPr>
            <a:r>
              <a:rPr lang="en-US" sz="1100" b="1" dirty="0">
                <a:solidFill>
                  <a:srgbClr val="FFA726"/>
                </a:solidFill>
                <a:latin typeface="Calibri" pitchFamily="34" charset="0"/>
                <a:ea typeface="Calibri" pitchFamily="34" charset="-122"/>
                <a:cs typeface="Calibri" pitchFamily="34" charset="-120"/>
              </a:rPr>
              <a:t>Working Groups</a:t>
            </a:r>
            <a:r>
              <a:rPr lang="en-US" sz="1100" dirty="0">
                <a:solidFill>
                  <a:srgbClr val="B0BEC5"/>
                </a:solidFill>
                <a:latin typeface="Calibri" pitchFamily="34" charset="0"/>
                <a:ea typeface="Calibri" pitchFamily="34" charset="-122"/>
                <a:cs typeface="Calibri" pitchFamily="34" charset="-120"/>
              </a:rPr>
              <a:t> are temporary, cross-SIG, own no code. They disband when their issue is resolved. (9 active)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So SIGs handle everything</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across the whole cloud</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native ecosystem too?</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Parallel Structures, Not the Same</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777240"/>
          <a:ext cx="8412480" cy="1783080"/>
        </p:xfrm>
        <a:graphic>
          <a:graphicData uri="http://schemas.openxmlformats.org/drawingml/2006/table">
            <a:tbl>
              <a:tblPr/>
              <a:tblGrid>
                <a:gridCol w="14630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20040">
                <a:tc>
                  <a:txBody>
                    <a:bodyPr/>
                    <a:lstStyle/>
                    <a:p>
                      <a:pPr marL="0" indent="0">
                        <a:buNone/>
                      </a:pP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1A2744"/>
                    </a:solidFill>
                  </a:tcPr>
                </a:tc>
                <a:tc>
                  <a:txBody>
                    <a:bodyPr/>
                    <a:lstStyle/>
                    <a:p>
                      <a:pPr marL="0" indent="0">
                        <a:buNone/>
                      </a:pPr>
                      <a:r>
                        <a:rPr lang="en-US" sz="1100" b="1" dirty="0">
                          <a:solidFill>
                            <a:srgbClr val="326CE5"/>
                          </a:solidFill>
                          <a:latin typeface="Calibri" pitchFamily="34" charset="0"/>
                          <a:ea typeface="Calibri" pitchFamily="34" charset="-122"/>
                          <a:cs typeface="Calibri" pitchFamily="34" charset="-120"/>
                        </a:rPr>
                        <a:t>KUBERNETES SIGs</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1A2744"/>
                    </a:solidFill>
                  </a:tcPr>
                </a:tc>
                <a:tc>
                  <a:txBody>
                    <a:bodyPr/>
                    <a:lstStyle/>
                    <a:p>
                      <a:pPr marL="0" indent="0">
                        <a:buNone/>
                      </a:pPr>
                      <a:r>
                        <a:rPr lang="en-US" sz="1100" b="1" dirty="0">
                          <a:solidFill>
                            <a:srgbClr val="26A69A"/>
                          </a:solidFill>
                          <a:latin typeface="Calibri" pitchFamily="34" charset="0"/>
                          <a:ea typeface="Calibri" pitchFamily="34" charset="-122"/>
                          <a:cs typeface="Calibri" pitchFamily="34" charset="-120"/>
                        </a:rPr>
                        <a:t>CNCF TAGs</a:t>
                      </a:r>
                      <a:endParaRPr lang="en-US" sz="11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92608">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Code</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Own and maintain code</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Advisory only, own no code</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1"/>
                  </a:ext>
                </a:extLst>
              </a:tr>
              <a:tr h="292608">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Scope</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Kubernetes only</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All 200+ CNCF projects</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2"/>
                  </a:ext>
                </a:extLst>
              </a:tr>
              <a:tr h="292608">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Authority</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Direct authority over subsystems</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Recommendations to TOC</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3"/>
                  </a:ext>
                </a:extLst>
              </a:tr>
              <a:tr h="292608">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Reports to</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K8s Steering Committee</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CNCF TOC (11 members)</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4"/>
                  </a:ext>
                </a:extLst>
              </a:tr>
              <a:tr h="292608">
                <a:tc>
                  <a:txBody>
                    <a:bodyPr/>
                    <a:lstStyle/>
                    <a:p>
                      <a:pPr marL="0" indent="0">
                        <a:buNone/>
                      </a:pPr>
                      <a:r>
                        <a:rPr lang="en-US" sz="1000" b="1" dirty="0">
                          <a:solidFill>
                            <a:srgbClr val="D4A843"/>
                          </a:solidFill>
                          <a:latin typeface="Calibri" pitchFamily="34" charset="0"/>
                          <a:ea typeface="Calibri" pitchFamily="34" charset="-122"/>
                          <a:cs typeface="Calibri" pitchFamily="34" charset="-120"/>
                        </a:rPr>
                        <a:t>Count</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24 SIGs</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tc>
                  <a:txBody>
                    <a:bodyPr/>
                    <a:lstStyle/>
                    <a:p>
                      <a:pPr marL="0" indent="0">
                        <a:buNone/>
                      </a:pPr>
                      <a:r>
                        <a:rPr lang="en-US" sz="1000" dirty="0">
                          <a:solidFill>
                            <a:srgbClr val="B0BEC5"/>
                          </a:solidFill>
                          <a:latin typeface="Calibri" pitchFamily="34" charset="0"/>
                          <a:ea typeface="Calibri" pitchFamily="34" charset="-122"/>
                          <a:cs typeface="Calibri" pitchFamily="34" charset="-120"/>
                        </a:rPr>
                        <a:t>5 TAGs (restructured May 2025)</a:t>
                      </a:r>
                      <a:endParaRPr lang="en-US" sz="1000" dirty="0">
                        <a:latin typeface="Calibri" charset="0"/>
                        <a:ea typeface="Calibri" charset="0"/>
                        <a:cs typeface="Calibri" charset="0"/>
                      </a:endParaRPr>
                    </a:p>
                  </a:txBody>
                  <a:tcPr>
                    <a:lnL w="6350" cap="flat" cmpd="sng" algn="ctr">
                      <a:solidFill>
                        <a:srgbClr val="1A2744"/>
                      </a:solidFill>
                      <a:prstDash val="solid"/>
                      <a:round/>
                      <a:headEnd type="none" w="med" len="med"/>
                      <a:tailEnd type="none" w="med" len="med"/>
                    </a:lnL>
                    <a:lnR w="6350" cap="flat" cmpd="sng" algn="ctr">
                      <a:solidFill>
                        <a:srgbClr val="1A2744"/>
                      </a:solidFill>
                      <a:prstDash val="solid"/>
                      <a:round/>
                      <a:headEnd type="none" w="med" len="med"/>
                      <a:tailEnd type="none" w="med" len="med"/>
                    </a:lnR>
                    <a:lnT w="6350" cap="flat" cmpd="sng" algn="ctr">
                      <a:solidFill>
                        <a:srgbClr val="1A2744"/>
                      </a:solidFill>
                      <a:prstDash val="solid"/>
                      <a:round/>
                      <a:headEnd type="none" w="med" len="med"/>
                      <a:tailEnd type="none" w="med" len="med"/>
                    </a:lnT>
                    <a:lnB w="6350" cap="flat" cmpd="sng" algn="ctr">
                      <a:solidFill>
                        <a:srgbClr val="1A2744"/>
                      </a:solidFill>
                      <a:prstDash val="solid"/>
                      <a:round/>
                      <a:headEnd type="none" w="med" len="med"/>
                      <a:tailEnd type="none" w="med" len="med"/>
                    </a:lnB>
                    <a:solidFill>
                      <a:srgbClr val="0D1527"/>
                    </a:solidFill>
                  </a:tcPr>
                </a:tc>
                <a:extLst>
                  <a:ext uri="{0D108BD9-81ED-4DB2-BD59-A6C34878D82A}">
                    <a16:rowId xmlns:a16="http://schemas.microsoft.com/office/drawing/2014/main" val="10005"/>
                  </a:ext>
                </a:extLst>
              </a:tr>
            </a:tbl>
          </a:graphicData>
        </a:graphic>
      </p:graphicFrame>
      <p:sp>
        <p:nvSpPr>
          <p:cNvPr id="4" name="Text 1"/>
          <p:cNvSpPr/>
          <p:nvPr/>
        </p:nvSpPr>
        <p:spPr>
          <a:xfrm>
            <a:off x="457200" y="2743200"/>
            <a:ext cx="8229600" cy="320040"/>
          </a:xfrm>
          <a:prstGeom prst="rect">
            <a:avLst/>
          </a:prstGeom>
          <a:noFill/>
          <a:ln/>
        </p:spPr>
        <p:txBody>
          <a:bodyPr wrap="square" rtlCol="0" anchor="ctr"/>
          <a:lstStyle/>
          <a:p>
            <a:pPr marL="0" indent="0">
              <a:buNone/>
            </a:pPr>
            <a:r>
              <a:rPr lang="en-US" sz="1400" b="1" dirty="0">
                <a:solidFill>
                  <a:srgbClr val="26A69A"/>
                </a:solidFill>
                <a:latin typeface="Georgia" pitchFamily="34" charset="0"/>
                <a:ea typeface="Georgia" pitchFamily="34" charset="-122"/>
                <a:cs typeface="Georgia" pitchFamily="34" charset="-120"/>
              </a:rPr>
              <a:t>The 5 CNCF TAGs (May 2025 restructure)</a:t>
            </a:r>
            <a:endParaRPr lang="en-US" sz="1400" dirty="0"/>
          </a:p>
        </p:txBody>
      </p:sp>
      <p:sp>
        <p:nvSpPr>
          <p:cNvPr id="5" name="Text 2"/>
          <p:cNvSpPr/>
          <p:nvPr/>
        </p:nvSpPr>
        <p:spPr>
          <a:xfrm>
            <a:off x="640080" y="3108960"/>
            <a:ext cx="804672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TAG Developer Experience</a:t>
            </a:r>
            <a:r>
              <a:rPr lang="en-US" sz="900" dirty="0">
                <a:solidFill>
                  <a:srgbClr val="78909C"/>
                </a:solidFill>
                <a:latin typeface="Calibri" pitchFamily="34" charset="0"/>
                <a:ea typeface="Calibri" pitchFamily="34" charset="-122"/>
                <a:cs typeface="Calibri" pitchFamily="34" charset="-120"/>
              </a:rPr>
              <a:t>  —  databases, microservices, streaming, APIs</a:t>
            </a:r>
            <a:endParaRPr lang="en-US" sz="1000" dirty="0"/>
          </a:p>
        </p:txBody>
      </p:sp>
      <p:sp>
        <p:nvSpPr>
          <p:cNvPr id="6" name="Text 3"/>
          <p:cNvSpPr/>
          <p:nvPr/>
        </p:nvSpPr>
        <p:spPr>
          <a:xfrm>
            <a:off x="640080" y="3456432"/>
            <a:ext cx="804672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TAG Infrastructure</a:t>
            </a:r>
            <a:r>
              <a:rPr lang="en-US" sz="900" dirty="0">
                <a:solidFill>
                  <a:srgbClr val="78909C"/>
                </a:solidFill>
                <a:latin typeface="Calibri" pitchFamily="34" charset="0"/>
                <a:ea typeface="Calibri" pitchFamily="34" charset="-122"/>
                <a:cs typeface="Calibri" pitchFamily="34" charset="-120"/>
              </a:rPr>
              <a:t>  —  storage, networking, compute, service mesh, IaC</a:t>
            </a:r>
            <a:endParaRPr lang="en-US" sz="1000" dirty="0"/>
          </a:p>
        </p:txBody>
      </p:sp>
      <p:sp>
        <p:nvSpPr>
          <p:cNvPr id="7" name="Text 4"/>
          <p:cNvSpPr/>
          <p:nvPr/>
        </p:nvSpPr>
        <p:spPr>
          <a:xfrm>
            <a:off x="640080" y="3803904"/>
            <a:ext cx="804672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TAG Operational Resilience</a:t>
            </a:r>
            <a:r>
              <a:rPr lang="en-US" sz="900" dirty="0">
                <a:solidFill>
                  <a:srgbClr val="78909C"/>
                </a:solidFill>
                <a:latin typeface="Calibri" pitchFamily="34" charset="0"/>
                <a:ea typeface="Calibri" pitchFamily="34" charset="-122"/>
                <a:cs typeface="Calibri" pitchFamily="34" charset="-120"/>
              </a:rPr>
              <a:t>  —  observability, reliability, chaos engineering</a:t>
            </a:r>
            <a:endParaRPr lang="en-US" sz="1000" dirty="0"/>
          </a:p>
        </p:txBody>
      </p:sp>
      <p:sp>
        <p:nvSpPr>
          <p:cNvPr id="8" name="Text 5"/>
          <p:cNvSpPr/>
          <p:nvPr/>
        </p:nvSpPr>
        <p:spPr>
          <a:xfrm>
            <a:off x="640080" y="4151376"/>
            <a:ext cx="804672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TAG Security and Compliance</a:t>
            </a:r>
            <a:r>
              <a:rPr lang="en-US" sz="900" dirty="0">
                <a:solidFill>
                  <a:srgbClr val="78909C"/>
                </a:solidFill>
                <a:latin typeface="Calibri" pitchFamily="34" charset="0"/>
                <a:ea typeface="Calibri" pitchFamily="34" charset="-122"/>
                <a:cs typeface="Calibri" pitchFamily="34" charset="-120"/>
              </a:rPr>
              <a:t>  —  security hygiene, policy-as-code, supply chain</a:t>
            </a:r>
            <a:endParaRPr lang="en-US" sz="1000" dirty="0"/>
          </a:p>
        </p:txBody>
      </p:sp>
      <p:sp>
        <p:nvSpPr>
          <p:cNvPr id="3" name="Text 6"/>
          <p:cNvSpPr/>
          <p:nvPr/>
        </p:nvSpPr>
        <p:spPr>
          <a:xfrm>
            <a:off x="640080" y="4498848"/>
            <a:ext cx="804672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TAG Workloads Foundation</a:t>
            </a:r>
            <a:r>
              <a:rPr lang="en-US" sz="900" dirty="0">
                <a:solidFill>
                  <a:srgbClr val="78909C"/>
                </a:solidFill>
                <a:latin typeface="Calibri" pitchFamily="34" charset="0"/>
                <a:ea typeface="Calibri" pitchFamily="34" charset="-122"/>
                <a:cs typeface="Calibri" pitchFamily="34" charset="-120"/>
              </a:rPr>
              <a:t>  —  containers, runtimes, serverless, scheduling, CI/CD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How does a feature actually</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get into Kubernetes?</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KEP Pipeline</a:t>
            </a:r>
            <a:endParaRPr lang="en-US" sz="2200" dirty="0"/>
          </a:p>
        </p:txBody>
      </p:sp>
      <p:sp>
        <p:nvSpPr>
          <p:cNvPr id="3" name="Text 1"/>
          <p:cNvSpPr/>
          <p:nvPr/>
        </p:nvSpPr>
        <p:spPr>
          <a:xfrm>
            <a:off x="457200" y="685800"/>
            <a:ext cx="822960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Kubernetes Enhancement Proposal — every significant change starts here</a:t>
            </a:r>
            <a:endParaRPr lang="en-US" sz="1100" dirty="0"/>
          </a:p>
        </p:txBody>
      </p:sp>
      <p:pic>
        <p:nvPicPr>
          <p:cNvPr id="20" name="Picture 19">
            <a:extLst>
              <a:ext uri="{FF2B5EF4-FFF2-40B4-BE49-F238E27FC236}">
                <a16:creationId xmlns:a16="http://schemas.microsoft.com/office/drawing/2014/main" id="{380FEE1F-7AE9-2883-C108-0E1DCBD5D558}"/>
              </a:ext>
            </a:extLst>
          </p:cNvPr>
          <p:cNvPicPr>
            <a:picLocks noChangeAspect="1"/>
          </p:cNvPicPr>
          <p:nvPr/>
        </p:nvPicPr>
        <p:blipFill>
          <a:blip r:embed="rId3"/>
          <a:stretch>
            <a:fillRect/>
          </a:stretch>
        </p:blipFill>
        <p:spPr>
          <a:xfrm>
            <a:off x="1108364" y="1068536"/>
            <a:ext cx="6246654" cy="39973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B2D"/>
        </a:solidFill>
        <a:effectLst/>
      </p:bgPr>
    </p:bg>
    <p:spTree>
      <p:nvGrpSpPr>
        <p:cNvPr id="1" name="">
          <a:extLst>
            <a:ext uri="{FF2B5EF4-FFF2-40B4-BE49-F238E27FC236}">
              <a16:creationId xmlns:a16="http://schemas.microsoft.com/office/drawing/2014/main" id="{6438BECA-C14F-144F-B61B-B4D6EAF9BD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074336-3410-55E3-E53B-A37B63D7D161}"/>
              </a:ext>
            </a:extLst>
          </p:cNvPr>
          <p:cNvSpPr/>
          <p:nvPr/>
        </p:nvSpPr>
        <p:spPr>
          <a:xfrm>
            <a:off x="457200" y="274320"/>
            <a:ext cx="822960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KEP Pipeline</a:t>
            </a:r>
            <a:endParaRPr lang="en-US" sz="2200" dirty="0"/>
          </a:p>
        </p:txBody>
      </p:sp>
      <p:sp>
        <p:nvSpPr>
          <p:cNvPr id="3" name="Text 1">
            <a:extLst>
              <a:ext uri="{FF2B5EF4-FFF2-40B4-BE49-F238E27FC236}">
                <a16:creationId xmlns:a16="http://schemas.microsoft.com/office/drawing/2014/main" id="{44C686EC-764B-E469-7AFE-E1720A50B906}"/>
              </a:ext>
            </a:extLst>
          </p:cNvPr>
          <p:cNvSpPr/>
          <p:nvPr/>
        </p:nvSpPr>
        <p:spPr>
          <a:xfrm>
            <a:off x="457200" y="685800"/>
            <a:ext cx="822960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Kubernetes Enhancement Proposal — every significant change starts here</a:t>
            </a:r>
            <a:endParaRPr lang="en-US" sz="1100" dirty="0"/>
          </a:p>
        </p:txBody>
      </p:sp>
      <p:sp>
        <p:nvSpPr>
          <p:cNvPr id="4" name="Shape 2">
            <a:extLst>
              <a:ext uri="{FF2B5EF4-FFF2-40B4-BE49-F238E27FC236}">
                <a16:creationId xmlns:a16="http://schemas.microsoft.com/office/drawing/2014/main" id="{27F35C3F-6387-836E-CF3E-68C81567C8AD}"/>
              </a:ext>
            </a:extLst>
          </p:cNvPr>
          <p:cNvSpPr/>
          <p:nvPr/>
        </p:nvSpPr>
        <p:spPr>
          <a:xfrm>
            <a:off x="457200" y="1188720"/>
            <a:ext cx="2560320" cy="1371600"/>
          </a:xfrm>
          <a:prstGeom prst="rect">
            <a:avLst/>
          </a:prstGeom>
          <a:solidFill>
            <a:srgbClr val="0D1527"/>
          </a:solidFill>
          <a:ln w="25400">
            <a:solidFill>
              <a:srgbClr val="FFA726"/>
            </a:solidFill>
            <a:prstDash val="solid"/>
          </a:ln>
        </p:spPr>
        <p:txBody>
          <a:bodyPr/>
          <a:lstStyle/>
          <a:p>
            <a:endParaRPr lang="en-US"/>
          </a:p>
        </p:txBody>
      </p:sp>
      <p:sp>
        <p:nvSpPr>
          <p:cNvPr id="5" name="Text 3">
            <a:extLst>
              <a:ext uri="{FF2B5EF4-FFF2-40B4-BE49-F238E27FC236}">
                <a16:creationId xmlns:a16="http://schemas.microsoft.com/office/drawing/2014/main" id="{56F14777-91BE-AD07-3BB6-ABDCC14112AE}"/>
              </a:ext>
            </a:extLst>
          </p:cNvPr>
          <p:cNvSpPr/>
          <p:nvPr/>
        </p:nvSpPr>
        <p:spPr>
          <a:xfrm>
            <a:off x="457200" y="1234440"/>
            <a:ext cx="2560320" cy="411480"/>
          </a:xfrm>
          <a:prstGeom prst="rect">
            <a:avLst/>
          </a:prstGeom>
          <a:noFill/>
          <a:ln/>
        </p:spPr>
        <p:txBody>
          <a:bodyPr wrap="square" rtlCol="0" anchor="ctr"/>
          <a:lstStyle/>
          <a:p>
            <a:pPr marL="0" indent="0" algn="ctr">
              <a:buNone/>
            </a:pPr>
            <a:r>
              <a:rPr lang="en-US" sz="1600" b="1" dirty="0">
                <a:solidFill>
                  <a:srgbClr val="FFA726"/>
                </a:solidFill>
                <a:latin typeface="Georgia" pitchFamily="34" charset="0"/>
                <a:ea typeface="Georgia" pitchFamily="34" charset="-122"/>
                <a:cs typeface="Georgia" pitchFamily="34" charset="-120"/>
              </a:rPr>
              <a:t>ALPHA</a:t>
            </a:r>
            <a:endParaRPr lang="en-US" sz="1600" dirty="0"/>
          </a:p>
        </p:txBody>
      </p:sp>
      <p:sp>
        <p:nvSpPr>
          <p:cNvPr id="6" name="Text 4">
            <a:extLst>
              <a:ext uri="{FF2B5EF4-FFF2-40B4-BE49-F238E27FC236}">
                <a16:creationId xmlns:a16="http://schemas.microsoft.com/office/drawing/2014/main" id="{5937DB8E-9BE0-5587-061F-DC3A242E935D}"/>
              </a:ext>
            </a:extLst>
          </p:cNvPr>
          <p:cNvSpPr/>
          <p:nvPr/>
        </p:nvSpPr>
        <p:spPr>
          <a:xfrm>
            <a:off x="594360" y="1645920"/>
            <a:ext cx="2286000" cy="82296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Feature gate OFF</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by default.</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Early adopters test.</a:t>
            </a:r>
            <a:endParaRPr lang="en-US" sz="1000" dirty="0"/>
          </a:p>
        </p:txBody>
      </p:sp>
      <p:sp>
        <p:nvSpPr>
          <p:cNvPr id="7" name="Shape 5">
            <a:extLst>
              <a:ext uri="{FF2B5EF4-FFF2-40B4-BE49-F238E27FC236}">
                <a16:creationId xmlns:a16="http://schemas.microsoft.com/office/drawing/2014/main" id="{BD1306BB-FB9E-23A1-1A8B-AC65782DA033}"/>
              </a:ext>
            </a:extLst>
          </p:cNvPr>
          <p:cNvSpPr/>
          <p:nvPr/>
        </p:nvSpPr>
        <p:spPr>
          <a:xfrm>
            <a:off x="3200400" y="1188720"/>
            <a:ext cx="2560320" cy="1371600"/>
          </a:xfrm>
          <a:prstGeom prst="rect">
            <a:avLst/>
          </a:prstGeom>
          <a:solidFill>
            <a:srgbClr val="0D1527"/>
          </a:solidFill>
          <a:ln w="25400">
            <a:solidFill>
              <a:srgbClr val="326CE5"/>
            </a:solidFill>
            <a:prstDash val="solid"/>
          </a:ln>
        </p:spPr>
        <p:txBody>
          <a:bodyPr/>
          <a:lstStyle/>
          <a:p>
            <a:endParaRPr lang="en-US"/>
          </a:p>
        </p:txBody>
      </p:sp>
      <p:sp>
        <p:nvSpPr>
          <p:cNvPr id="8" name="Text 6">
            <a:extLst>
              <a:ext uri="{FF2B5EF4-FFF2-40B4-BE49-F238E27FC236}">
                <a16:creationId xmlns:a16="http://schemas.microsoft.com/office/drawing/2014/main" id="{30FD8686-849A-9A4D-2B77-FA1C10A96BA7}"/>
              </a:ext>
            </a:extLst>
          </p:cNvPr>
          <p:cNvSpPr/>
          <p:nvPr/>
        </p:nvSpPr>
        <p:spPr>
          <a:xfrm>
            <a:off x="3200400" y="1234440"/>
            <a:ext cx="2560320" cy="411480"/>
          </a:xfrm>
          <a:prstGeom prst="rect">
            <a:avLst/>
          </a:prstGeom>
          <a:noFill/>
          <a:ln/>
        </p:spPr>
        <p:txBody>
          <a:bodyPr wrap="square" rtlCol="0" anchor="ctr"/>
          <a:lstStyle/>
          <a:p>
            <a:pPr marL="0" indent="0" algn="ctr">
              <a:buNone/>
            </a:pPr>
            <a:r>
              <a:rPr lang="en-US" sz="1600" b="1" dirty="0">
                <a:solidFill>
                  <a:srgbClr val="326CE5"/>
                </a:solidFill>
                <a:latin typeface="Georgia" pitchFamily="34" charset="0"/>
                <a:ea typeface="Georgia" pitchFamily="34" charset="-122"/>
                <a:cs typeface="Georgia" pitchFamily="34" charset="-120"/>
              </a:rPr>
              <a:t>BETA</a:t>
            </a:r>
            <a:endParaRPr lang="en-US" sz="1600" dirty="0"/>
          </a:p>
        </p:txBody>
      </p:sp>
      <p:sp>
        <p:nvSpPr>
          <p:cNvPr id="9" name="Text 7">
            <a:extLst>
              <a:ext uri="{FF2B5EF4-FFF2-40B4-BE49-F238E27FC236}">
                <a16:creationId xmlns:a16="http://schemas.microsoft.com/office/drawing/2014/main" id="{912B7E61-EA20-5BB3-7AA1-84D7DFBB2EDC}"/>
              </a:ext>
            </a:extLst>
          </p:cNvPr>
          <p:cNvSpPr/>
          <p:nvPr/>
        </p:nvSpPr>
        <p:spPr>
          <a:xfrm>
            <a:off x="3337560" y="1645920"/>
            <a:ext cx="2286000" cy="82296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Feature gate ON</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by default.</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Broader testing.</a:t>
            </a:r>
            <a:endParaRPr lang="en-US" sz="1000" dirty="0"/>
          </a:p>
        </p:txBody>
      </p:sp>
      <p:sp>
        <p:nvSpPr>
          <p:cNvPr id="10" name="Shape 8">
            <a:extLst>
              <a:ext uri="{FF2B5EF4-FFF2-40B4-BE49-F238E27FC236}">
                <a16:creationId xmlns:a16="http://schemas.microsoft.com/office/drawing/2014/main" id="{2615A350-2FFC-7906-1617-BF9CCBEF5DE5}"/>
              </a:ext>
            </a:extLst>
          </p:cNvPr>
          <p:cNvSpPr/>
          <p:nvPr/>
        </p:nvSpPr>
        <p:spPr>
          <a:xfrm>
            <a:off x="5943600" y="1188720"/>
            <a:ext cx="2560320" cy="1371600"/>
          </a:xfrm>
          <a:prstGeom prst="rect">
            <a:avLst/>
          </a:prstGeom>
          <a:solidFill>
            <a:srgbClr val="0D1527"/>
          </a:solidFill>
          <a:ln w="25400">
            <a:solidFill>
              <a:srgbClr val="4CAF50"/>
            </a:solidFill>
            <a:prstDash val="solid"/>
          </a:ln>
        </p:spPr>
        <p:txBody>
          <a:bodyPr/>
          <a:lstStyle/>
          <a:p>
            <a:endParaRPr lang="en-US"/>
          </a:p>
        </p:txBody>
      </p:sp>
      <p:sp>
        <p:nvSpPr>
          <p:cNvPr id="11" name="Text 9">
            <a:extLst>
              <a:ext uri="{FF2B5EF4-FFF2-40B4-BE49-F238E27FC236}">
                <a16:creationId xmlns:a16="http://schemas.microsoft.com/office/drawing/2014/main" id="{3910752E-42A9-AE09-4B29-A46E69A78B67}"/>
              </a:ext>
            </a:extLst>
          </p:cNvPr>
          <p:cNvSpPr/>
          <p:nvPr/>
        </p:nvSpPr>
        <p:spPr>
          <a:xfrm>
            <a:off x="5943600" y="1234440"/>
            <a:ext cx="2560320" cy="411480"/>
          </a:xfrm>
          <a:prstGeom prst="rect">
            <a:avLst/>
          </a:prstGeom>
          <a:noFill/>
          <a:ln/>
        </p:spPr>
        <p:txBody>
          <a:bodyPr wrap="square" rtlCol="0" anchor="ctr"/>
          <a:lstStyle/>
          <a:p>
            <a:pPr marL="0" indent="0" algn="ctr">
              <a:buNone/>
            </a:pPr>
            <a:r>
              <a:rPr lang="en-US" sz="1600" b="1" dirty="0">
                <a:solidFill>
                  <a:srgbClr val="4CAF50"/>
                </a:solidFill>
                <a:latin typeface="Georgia" pitchFamily="34" charset="0"/>
                <a:ea typeface="Georgia" pitchFamily="34" charset="-122"/>
                <a:cs typeface="Georgia" pitchFamily="34" charset="-120"/>
              </a:rPr>
              <a:t>STABLE (GA)</a:t>
            </a:r>
            <a:endParaRPr lang="en-US" sz="1600" dirty="0"/>
          </a:p>
        </p:txBody>
      </p:sp>
      <p:sp>
        <p:nvSpPr>
          <p:cNvPr id="12" name="Text 10">
            <a:extLst>
              <a:ext uri="{FF2B5EF4-FFF2-40B4-BE49-F238E27FC236}">
                <a16:creationId xmlns:a16="http://schemas.microsoft.com/office/drawing/2014/main" id="{9BB63D04-AD3A-9BE9-C1D1-BD1CDBB03355}"/>
              </a:ext>
            </a:extLst>
          </p:cNvPr>
          <p:cNvSpPr/>
          <p:nvPr/>
        </p:nvSpPr>
        <p:spPr>
          <a:xfrm>
            <a:off x="6080760" y="1645920"/>
            <a:ext cx="2286000" cy="822960"/>
          </a:xfrm>
          <a:prstGeom prst="rect">
            <a:avLst/>
          </a:prstGeom>
          <a:noFill/>
          <a:ln/>
        </p:spPr>
        <p:txBody>
          <a:bodyPr wrap="square"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Feature gate locked.</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Permanent.</a:t>
            </a:r>
            <a:endParaRPr lang="en-US" sz="1000" dirty="0"/>
          </a:p>
          <a:p>
            <a:pPr marL="0" indent="0" algn="ctr">
              <a:buNone/>
            </a:pPr>
            <a:r>
              <a:rPr lang="en-US" sz="1000" dirty="0">
                <a:solidFill>
                  <a:srgbClr val="B0BEC5"/>
                </a:solidFill>
                <a:latin typeface="Calibri" pitchFamily="34" charset="0"/>
                <a:ea typeface="Calibri" pitchFamily="34" charset="-122"/>
                <a:cs typeface="Calibri" pitchFamily="34" charset="-120"/>
              </a:rPr>
              <a:t>Ships to everyone.</a:t>
            </a:r>
            <a:endParaRPr lang="en-US" sz="1000" dirty="0"/>
          </a:p>
        </p:txBody>
      </p:sp>
      <p:sp>
        <p:nvSpPr>
          <p:cNvPr id="13" name="Text 11">
            <a:extLst>
              <a:ext uri="{FF2B5EF4-FFF2-40B4-BE49-F238E27FC236}">
                <a16:creationId xmlns:a16="http://schemas.microsoft.com/office/drawing/2014/main" id="{6EB303A1-F8F2-2AFF-56EF-99DD858B7AEE}"/>
              </a:ext>
            </a:extLst>
          </p:cNvPr>
          <p:cNvSpPr/>
          <p:nvPr/>
        </p:nvSpPr>
        <p:spPr>
          <a:xfrm>
            <a:off x="2880360" y="1508760"/>
            <a:ext cx="457200" cy="457200"/>
          </a:xfrm>
          <a:prstGeom prst="rect">
            <a:avLst/>
          </a:prstGeom>
          <a:noFill/>
          <a:ln/>
        </p:spPr>
        <p:txBody>
          <a:bodyPr wrap="square" rtlCol="0" anchor="ctr"/>
          <a:lstStyle/>
          <a:p>
            <a:pPr marL="0" indent="0" algn="ctr">
              <a:buNone/>
            </a:pPr>
            <a:r>
              <a:rPr lang="en-US" sz="2800" dirty="0">
                <a:solidFill>
                  <a:srgbClr val="78909C"/>
                </a:solidFill>
              </a:rPr>
              <a:t>→</a:t>
            </a:r>
            <a:endParaRPr lang="en-US" sz="2800" dirty="0"/>
          </a:p>
        </p:txBody>
      </p:sp>
      <p:sp>
        <p:nvSpPr>
          <p:cNvPr id="14" name="Text 12">
            <a:extLst>
              <a:ext uri="{FF2B5EF4-FFF2-40B4-BE49-F238E27FC236}">
                <a16:creationId xmlns:a16="http://schemas.microsoft.com/office/drawing/2014/main" id="{2401B869-3A51-CBF8-C0A8-9FE5945B70DB}"/>
              </a:ext>
            </a:extLst>
          </p:cNvPr>
          <p:cNvSpPr/>
          <p:nvPr/>
        </p:nvSpPr>
        <p:spPr>
          <a:xfrm>
            <a:off x="5623560" y="1508760"/>
            <a:ext cx="457200" cy="457200"/>
          </a:xfrm>
          <a:prstGeom prst="rect">
            <a:avLst/>
          </a:prstGeom>
          <a:noFill/>
          <a:ln/>
        </p:spPr>
        <p:txBody>
          <a:bodyPr wrap="square" rtlCol="0" anchor="ctr"/>
          <a:lstStyle/>
          <a:p>
            <a:pPr marL="0" indent="0" algn="ctr">
              <a:buNone/>
            </a:pPr>
            <a:r>
              <a:rPr lang="en-US" sz="2800" dirty="0">
                <a:solidFill>
                  <a:srgbClr val="78909C"/>
                </a:solidFill>
              </a:rPr>
              <a:t>→</a:t>
            </a:r>
            <a:endParaRPr lang="en-US" sz="2800" dirty="0"/>
          </a:p>
        </p:txBody>
      </p:sp>
      <p:sp>
        <p:nvSpPr>
          <p:cNvPr id="15" name="Shape 13">
            <a:extLst>
              <a:ext uri="{FF2B5EF4-FFF2-40B4-BE49-F238E27FC236}">
                <a16:creationId xmlns:a16="http://schemas.microsoft.com/office/drawing/2014/main" id="{66F9FBE0-B643-7BBE-13B6-B91FAC270A5F}"/>
              </a:ext>
            </a:extLst>
          </p:cNvPr>
          <p:cNvSpPr/>
          <p:nvPr/>
        </p:nvSpPr>
        <p:spPr>
          <a:xfrm>
            <a:off x="457200" y="2834640"/>
            <a:ext cx="8229600" cy="914400"/>
          </a:xfrm>
          <a:prstGeom prst="rect">
            <a:avLst/>
          </a:prstGeom>
          <a:solidFill>
            <a:srgbClr val="0D1527"/>
          </a:solidFill>
          <a:ln w="12700">
            <a:solidFill>
              <a:srgbClr val="1A2744"/>
            </a:solidFill>
            <a:prstDash val="solid"/>
          </a:ln>
        </p:spPr>
        <p:txBody>
          <a:bodyPr/>
          <a:lstStyle/>
          <a:p>
            <a:endParaRPr lang="en-US"/>
          </a:p>
        </p:txBody>
      </p:sp>
      <p:sp>
        <p:nvSpPr>
          <p:cNvPr id="16" name="Text 14">
            <a:extLst>
              <a:ext uri="{FF2B5EF4-FFF2-40B4-BE49-F238E27FC236}">
                <a16:creationId xmlns:a16="http://schemas.microsoft.com/office/drawing/2014/main" id="{F77714F7-F766-F2A6-5ACB-0E96188363BB}"/>
              </a:ext>
            </a:extLst>
          </p:cNvPr>
          <p:cNvSpPr/>
          <p:nvPr/>
        </p:nvSpPr>
        <p:spPr>
          <a:xfrm>
            <a:off x="640080" y="2880360"/>
            <a:ext cx="7863840"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v1.35 “Timbernetes”: </a:t>
            </a:r>
            <a:r>
              <a:rPr lang="en-US" sz="1300" dirty="0">
                <a:solidFill>
                  <a:srgbClr val="B0BEC5"/>
                </a:solidFill>
                <a:latin typeface="Calibri" pitchFamily="34" charset="0"/>
                <a:ea typeface="Calibri" pitchFamily="34" charset="-122"/>
                <a:cs typeface="Calibri" pitchFamily="34" charset="-120"/>
              </a:rPr>
              <a:t>60 enhancements  —  </a:t>
            </a:r>
            <a:r>
              <a:rPr lang="en-US" sz="1300" b="1" dirty="0">
                <a:solidFill>
                  <a:srgbClr val="4CAF50"/>
                </a:solidFill>
                <a:latin typeface="Calibri" pitchFamily="34" charset="0"/>
                <a:ea typeface="Calibri" pitchFamily="34" charset="-122"/>
                <a:cs typeface="Calibri" pitchFamily="34" charset="-120"/>
              </a:rPr>
              <a:t>17 Stable</a:t>
            </a:r>
            <a:r>
              <a:rPr lang="en-US" sz="1300" dirty="0">
                <a:solidFill>
                  <a:srgbClr val="78909C"/>
                </a:solidFill>
                <a:latin typeface="Calibri" pitchFamily="34" charset="0"/>
                <a:ea typeface="Calibri" pitchFamily="34" charset="-122"/>
                <a:cs typeface="Calibri" pitchFamily="34" charset="-120"/>
              </a:rPr>
              <a:t>  •  </a:t>
            </a:r>
            <a:r>
              <a:rPr lang="en-US" sz="1300" b="1" dirty="0">
                <a:solidFill>
                  <a:srgbClr val="326CE5"/>
                </a:solidFill>
                <a:latin typeface="Calibri" pitchFamily="34" charset="0"/>
                <a:ea typeface="Calibri" pitchFamily="34" charset="-122"/>
                <a:cs typeface="Calibri" pitchFamily="34" charset="-120"/>
              </a:rPr>
              <a:t>19 Beta</a:t>
            </a:r>
            <a:r>
              <a:rPr lang="en-US" sz="1300" dirty="0">
                <a:solidFill>
                  <a:srgbClr val="78909C"/>
                </a:solidFill>
                <a:latin typeface="Calibri" pitchFamily="34" charset="0"/>
                <a:ea typeface="Calibri" pitchFamily="34" charset="-122"/>
                <a:cs typeface="Calibri" pitchFamily="34" charset="-120"/>
              </a:rPr>
              <a:t>  •  </a:t>
            </a:r>
            <a:r>
              <a:rPr lang="en-US" sz="1300" b="1" dirty="0">
                <a:solidFill>
                  <a:srgbClr val="FFA726"/>
                </a:solidFill>
                <a:latin typeface="Calibri" pitchFamily="34" charset="0"/>
                <a:ea typeface="Calibri" pitchFamily="34" charset="-122"/>
                <a:cs typeface="Calibri" pitchFamily="34" charset="-120"/>
              </a:rPr>
              <a:t>22 Alpha</a:t>
            </a:r>
            <a:endParaRPr lang="en-US" sz="1300" dirty="0"/>
          </a:p>
        </p:txBody>
      </p:sp>
      <p:sp>
        <p:nvSpPr>
          <p:cNvPr id="17" name="Text 15">
            <a:extLst>
              <a:ext uri="{FF2B5EF4-FFF2-40B4-BE49-F238E27FC236}">
                <a16:creationId xmlns:a16="http://schemas.microsoft.com/office/drawing/2014/main" id="{AFFFDA3B-2C6F-A2AF-68F7-AE7AC65866C6}"/>
              </a:ext>
            </a:extLst>
          </p:cNvPr>
          <p:cNvSpPr/>
          <p:nvPr/>
        </p:nvSpPr>
        <p:spPr>
          <a:xfrm>
            <a:off x="640080" y="3291840"/>
            <a:ext cx="7863840" cy="36576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KEP URL pattern: </a:t>
            </a:r>
            <a:r>
              <a:rPr lang="en-US" sz="1100" dirty="0">
                <a:solidFill>
                  <a:srgbClr val="D4A843"/>
                </a:solidFill>
                <a:latin typeface="Consolas" pitchFamily="34" charset="0"/>
                <a:ea typeface="Consolas" pitchFamily="34" charset="-122"/>
                <a:cs typeface="Consolas" pitchFamily="34" charset="-120"/>
              </a:rPr>
              <a:t>keps/sig-{name}/{number}-{description}</a:t>
            </a:r>
            <a:r>
              <a:rPr lang="en-US" sz="1100" dirty="0">
                <a:solidFill>
                  <a:srgbClr val="B0BEC5"/>
                </a:solidFill>
                <a:latin typeface="Calibri" pitchFamily="34" charset="0"/>
                <a:ea typeface="Calibri" pitchFamily="34" charset="-122"/>
                <a:cs typeface="Calibri" pitchFamily="34" charset="-120"/>
              </a:rPr>
              <a:t>    Shortcut: </a:t>
            </a:r>
            <a:r>
              <a:rPr lang="en-US" sz="1100" b="1" dirty="0">
                <a:solidFill>
                  <a:srgbClr val="D4A843"/>
                </a:solidFill>
                <a:latin typeface="Consolas" pitchFamily="34" charset="0"/>
                <a:ea typeface="Consolas" pitchFamily="34" charset="-122"/>
                <a:cs typeface="Consolas" pitchFamily="34" charset="-120"/>
              </a:rPr>
              <a:t>kep.k8s.io/{number}</a:t>
            </a:r>
            <a:endParaRPr lang="en-US" sz="1100" dirty="0"/>
          </a:p>
        </p:txBody>
      </p:sp>
      <p:sp>
        <p:nvSpPr>
          <p:cNvPr id="18" name="Text 16">
            <a:extLst>
              <a:ext uri="{FF2B5EF4-FFF2-40B4-BE49-F238E27FC236}">
                <a16:creationId xmlns:a16="http://schemas.microsoft.com/office/drawing/2014/main" id="{0BF5A680-381B-5B5B-8BCC-CBF5360B5309}"/>
              </a:ext>
            </a:extLst>
          </p:cNvPr>
          <p:cNvSpPr/>
          <p:nvPr/>
        </p:nvSpPr>
        <p:spPr>
          <a:xfrm>
            <a:off x="457200" y="3931920"/>
            <a:ext cx="8229600" cy="320040"/>
          </a:xfrm>
          <a:prstGeom prst="rect">
            <a:avLst/>
          </a:prstGeom>
          <a:noFill/>
          <a:ln/>
        </p:spPr>
        <p:txBody>
          <a:bodyPr wrap="square" rtlCol="0" anchor="ctr"/>
          <a:lstStyle/>
          <a:p>
            <a:r>
              <a:rPr lang="en-US" sz="1100" dirty="0">
                <a:solidFill>
                  <a:srgbClr val="B0BEC5"/>
                </a:solidFill>
                <a:latin typeface="Calibri" pitchFamily="34" charset="0"/>
                <a:ea typeface="Calibri" pitchFamily="34" charset="-122"/>
                <a:cs typeface="Calibri" pitchFamily="34" charset="-120"/>
              </a:rPr>
              <a:t>Searchable release notes: </a:t>
            </a:r>
            <a:r>
              <a:rPr lang="en-US" sz="1100" b="1" dirty="0">
                <a:solidFill>
                  <a:srgbClr val="326CE5"/>
                </a:solidFill>
                <a:latin typeface="Consolas" pitchFamily="34" charset="0"/>
                <a:ea typeface="Consolas" pitchFamily="34" charset="-122"/>
                <a:cs typeface="Consolas" pitchFamily="34" charset="-120"/>
              </a:rPr>
              <a:t>relnotes.k8s.io</a:t>
            </a:r>
            <a:br>
              <a:rPr lang="en-US" sz="1100" b="1" dirty="0">
                <a:solidFill>
                  <a:srgbClr val="326CE5"/>
                </a:solidFill>
                <a:latin typeface="Consolas" pitchFamily="34" charset="0"/>
                <a:ea typeface="Consolas" pitchFamily="34" charset="-122"/>
                <a:cs typeface="Consolas" pitchFamily="34" charset="-120"/>
              </a:rPr>
            </a:br>
            <a:br>
              <a:rPr lang="en-US" sz="1100" b="1" dirty="0">
                <a:solidFill>
                  <a:srgbClr val="326CE5"/>
                </a:solidFill>
                <a:latin typeface="Consolas" pitchFamily="34" charset="0"/>
                <a:ea typeface="Consolas" pitchFamily="34" charset="-122"/>
                <a:cs typeface="Consolas" pitchFamily="34" charset="-120"/>
              </a:rPr>
            </a:br>
            <a:r>
              <a:rPr lang="en-US" sz="1100" b="1" dirty="0">
                <a:solidFill>
                  <a:srgbClr val="326CE5"/>
                </a:solidFill>
                <a:latin typeface="Consolas" pitchFamily="34" charset="0"/>
                <a:ea typeface="Consolas" pitchFamily="34" charset="-122"/>
                <a:cs typeface="Consolas" pitchFamily="34" charset="-120"/>
                <a:hlinkClick r:id="rId3"/>
              </a:rPr>
              <a:t>https://github.com/kubernetes/enhancements/blob/master/keps/README.md</a:t>
            </a:r>
            <a:r>
              <a:rPr lang="en-US" sz="1100" b="1" dirty="0">
                <a:solidFill>
                  <a:srgbClr val="326CE5"/>
                </a:solidFill>
                <a:latin typeface="Consolas" pitchFamily="34" charset="0"/>
                <a:ea typeface="Consolas" pitchFamily="34" charset="-122"/>
                <a:cs typeface="Consolas" pitchFamily="34" charset="-120"/>
              </a:rPr>
              <a:t> - </a:t>
            </a:r>
            <a:r>
              <a:rPr lang="en-US" sz="1100" b="1" dirty="0">
                <a:solidFill>
                  <a:schemeClr val="bg1"/>
                </a:solidFill>
                <a:latin typeface="Consolas" pitchFamily="34" charset="0"/>
                <a:ea typeface="Consolas" pitchFamily="34" charset="-122"/>
                <a:cs typeface="Consolas" pitchFamily="34" charset="-120"/>
              </a:rPr>
              <a:t>Kubernetes Enhancement Process</a:t>
            </a:r>
            <a:br>
              <a:rPr lang="en-US" sz="1100" b="1" dirty="0">
                <a:solidFill>
                  <a:schemeClr val="bg1"/>
                </a:solidFill>
                <a:latin typeface="Consolas" pitchFamily="34" charset="0"/>
                <a:ea typeface="Consolas" pitchFamily="34" charset="-122"/>
                <a:cs typeface="Consolas" pitchFamily="34" charset="-120"/>
              </a:rPr>
            </a:br>
            <a:br>
              <a:rPr lang="en-US" sz="1100" b="1" dirty="0">
                <a:solidFill>
                  <a:schemeClr val="bg1"/>
                </a:solidFill>
                <a:latin typeface="Consolas" pitchFamily="34" charset="0"/>
                <a:ea typeface="Consolas" pitchFamily="34" charset="-122"/>
                <a:cs typeface="Consolas" pitchFamily="34" charset="-120"/>
              </a:rPr>
            </a:br>
            <a:endParaRPr lang="en-US" sz="1100" dirty="0"/>
          </a:p>
        </p:txBody>
      </p:sp>
    </p:spTree>
    <p:extLst>
      <p:ext uri="{BB962C8B-B14F-4D97-AF65-F5344CB8AC3E}">
        <p14:creationId xmlns:p14="http://schemas.microsoft.com/office/powerpoint/2010/main" val="3640306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 heard about In-Place</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Pod Resize. Where did</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it come from?</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Trace a Feature: KEP-1287</a:t>
            </a:r>
            <a:endParaRPr lang="en-US" sz="2200" dirty="0"/>
          </a:p>
        </p:txBody>
      </p:sp>
      <p:sp>
        <p:nvSpPr>
          <p:cNvPr id="3" name="Text 1"/>
          <p:cNvSpPr/>
          <p:nvPr/>
        </p:nvSpPr>
        <p:spPr>
          <a:xfrm>
            <a:off x="457200" y="640080"/>
            <a:ext cx="822960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In-Place Pod Resize — change CPU/memory without restarting the pod</a:t>
            </a:r>
            <a:endParaRPr lang="en-US" sz="1100" dirty="0"/>
          </a:p>
        </p:txBody>
      </p:sp>
      <p:sp>
        <p:nvSpPr>
          <p:cNvPr id="4" name="Shape 2"/>
          <p:cNvSpPr/>
          <p:nvPr/>
        </p:nvSpPr>
        <p:spPr>
          <a:xfrm>
            <a:off x="365760" y="1097280"/>
            <a:ext cx="2011680" cy="2194560"/>
          </a:xfrm>
          <a:prstGeom prst="rect">
            <a:avLst/>
          </a:prstGeom>
          <a:solidFill>
            <a:srgbClr val="0D1527"/>
          </a:solidFill>
          <a:ln w="19050">
            <a:solidFill>
              <a:srgbClr val="78909C"/>
            </a:solidFill>
            <a:prstDash val="solid"/>
          </a:ln>
        </p:spPr>
        <p:txBody>
          <a:bodyPr/>
          <a:lstStyle/>
          <a:p>
            <a:endParaRPr lang="en-US"/>
          </a:p>
        </p:txBody>
      </p:sp>
      <p:sp>
        <p:nvSpPr>
          <p:cNvPr id="5" name="Text 3"/>
          <p:cNvSpPr/>
          <p:nvPr/>
        </p:nvSpPr>
        <p:spPr>
          <a:xfrm>
            <a:off x="365760" y="1143000"/>
            <a:ext cx="2011680" cy="411480"/>
          </a:xfrm>
          <a:prstGeom prst="rect">
            <a:avLst/>
          </a:prstGeom>
          <a:noFill/>
          <a:ln/>
        </p:spPr>
        <p:txBody>
          <a:bodyPr wrap="square" rtlCol="0" anchor="ctr"/>
          <a:lstStyle/>
          <a:p>
            <a:pPr marL="0" indent="0" algn="ctr">
              <a:buNone/>
            </a:pPr>
            <a:r>
              <a:rPr lang="en-US" sz="2400" b="1" dirty="0">
                <a:solidFill>
                  <a:srgbClr val="78909C"/>
                </a:solidFill>
                <a:latin typeface="Georgia" pitchFamily="34" charset="0"/>
                <a:ea typeface="Georgia" pitchFamily="34" charset="-122"/>
                <a:cs typeface="Georgia" pitchFamily="34" charset="-120"/>
              </a:rPr>
              <a:t>1</a:t>
            </a:r>
            <a:endParaRPr lang="en-US" sz="2400" dirty="0"/>
          </a:p>
        </p:txBody>
      </p:sp>
      <p:sp>
        <p:nvSpPr>
          <p:cNvPr id="6" name="Text 4"/>
          <p:cNvSpPr/>
          <p:nvPr/>
        </p:nvSpPr>
        <p:spPr>
          <a:xfrm>
            <a:off x="457200" y="155448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Proposed</a:t>
            </a:r>
            <a:endParaRPr lang="en-US" sz="1200" dirty="0"/>
          </a:p>
        </p:txBody>
      </p:sp>
      <p:sp>
        <p:nvSpPr>
          <p:cNvPr id="7" name="Text 5"/>
          <p:cNvSpPr/>
          <p:nvPr/>
        </p:nvSpPr>
        <p:spPr>
          <a:xfrm>
            <a:off x="457200" y="1965960"/>
            <a:ext cx="1828800" cy="9144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SIG Node created KEP under</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keps/sig-node/1287-in-place-</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update-pod-resources/</a:t>
            </a:r>
            <a:endParaRPr lang="en-US" sz="900" dirty="0"/>
          </a:p>
        </p:txBody>
      </p:sp>
      <p:sp>
        <p:nvSpPr>
          <p:cNvPr id="8" name="Text 6"/>
          <p:cNvSpPr/>
          <p:nvPr/>
        </p:nvSpPr>
        <p:spPr>
          <a:xfrm>
            <a:off x="457200" y="2926080"/>
            <a:ext cx="1828800" cy="274320"/>
          </a:xfrm>
          <a:prstGeom prst="rect">
            <a:avLst/>
          </a:prstGeom>
          <a:noFill/>
          <a:ln/>
        </p:spPr>
        <p:txBody>
          <a:bodyPr wrap="square" rtlCol="0" anchor="ctr"/>
          <a:lstStyle/>
          <a:p>
            <a:pPr marL="0" indent="0" algn="ctr">
              <a:buNone/>
            </a:pPr>
            <a:endParaRPr lang="en-US" sz="900" dirty="0"/>
          </a:p>
        </p:txBody>
      </p:sp>
      <p:sp>
        <p:nvSpPr>
          <p:cNvPr id="9" name="Shape 7"/>
          <p:cNvSpPr/>
          <p:nvPr/>
        </p:nvSpPr>
        <p:spPr>
          <a:xfrm>
            <a:off x="2560320" y="1097280"/>
            <a:ext cx="2011680" cy="2194560"/>
          </a:xfrm>
          <a:prstGeom prst="rect">
            <a:avLst/>
          </a:prstGeom>
          <a:solidFill>
            <a:srgbClr val="0D1527"/>
          </a:solidFill>
          <a:ln w="19050">
            <a:solidFill>
              <a:srgbClr val="FFA726"/>
            </a:solidFill>
            <a:prstDash val="solid"/>
          </a:ln>
        </p:spPr>
        <p:txBody>
          <a:bodyPr/>
          <a:lstStyle/>
          <a:p>
            <a:endParaRPr lang="en-US"/>
          </a:p>
        </p:txBody>
      </p:sp>
      <p:sp>
        <p:nvSpPr>
          <p:cNvPr id="10" name="Text 8"/>
          <p:cNvSpPr/>
          <p:nvPr/>
        </p:nvSpPr>
        <p:spPr>
          <a:xfrm>
            <a:off x="2560320" y="1143000"/>
            <a:ext cx="2011680" cy="411480"/>
          </a:xfrm>
          <a:prstGeom prst="rect">
            <a:avLst/>
          </a:prstGeom>
          <a:noFill/>
          <a:ln/>
        </p:spPr>
        <p:txBody>
          <a:bodyPr wrap="square" rtlCol="0" anchor="ctr"/>
          <a:lstStyle/>
          <a:p>
            <a:pPr marL="0" indent="0" algn="ctr">
              <a:buNone/>
            </a:pPr>
            <a:r>
              <a:rPr lang="en-US" sz="2400" b="1" dirty="0">
                <a:solidFill>
                  <a:srgbClr val="FFA726"/>
                </a:solidFill>
                <a:latin typeface="Georgia" pitchFamily="34" charset="0"/>
                <a:ea typeface="Georgia" pitchFamily="34" charset="-122"/>
                <a:cs typeface="Georgia" pitchFamily="34" charset="-120"/>
              </a:rPr>
              <a:t>2</a:t>
            </a:r>
            <a:endParaRPr lang="en-US" sz="2400" dirty="0"/>
          </a:p>
        </p:txBody>
      </p:sp>
      <p:sp>
        <p:nvSpPr>
          <p:cNvPr id="11" name="Text 9"/>
          <p:cNvSpPr/>
          <p:nvPr/>
        </p:nvSpPr>
        <p:spPr>
          <a:xfrm>
            <a:off x="2651760" y="155448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Alpha in v1.27</a:t>
            </a:r>
            <a:endParaRPr lang="en-US" sz="1200" dirty="0"/>
          </a:p>
        </p:txBody>
      </p:sp>
      <p:sp>
        <p:nvSpPr>
          <p:cNvPr id="12" name="Text 10"/>
          <p:cNvSpPr/>
          <p:nvPr/>
        </p:nvSpPr>
        <p:spPr>
          <a:xfrm>
            <a:off x="2651760" y="1965960"/>
            <a:ext cx="1828800" cy="9144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Feature gate</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InPlacePodVerticalScaling</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OFF by default</a:t>
            </a:r>
            <a:endParaRPr lang="en-US" sz="900" dirty="0"/>
          </a:p>
        </p:txBody>
      </p:sp>
      <p:sp>
        <p:nvSpPr>
          <p:cNvPr id="13" name="Text 11"/>
          <p:cNvSpPr/>
          <p:nvPr/>
        </p:nvSpPr>
        <p:spPr>
          <a:xfrm>
            <a:off x="2651760" y="2926080"/>
            <a:ext cx="182880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2023</a:t>
            </a:r>
            <a:endParaRPr lang="en-US" sz="900" dirty="0"/>
          </a:p>
        </p:txBody>
      </p:sp>
      <p:sp>
        <p:nvSpPr>
          <p:cNvPr id="14" name="Shape 12"/>
          <p:cNvSpPr/>
          <p:nvPr/>
        </p:nvSpPr>
        <p:spPr>
          <a:xfrm>
            <a:off x="4754880" y="1097280"/>
            <a:ext cx="2011680" cy="2194560"/>
          </a:xfrm>
          <a:prstGeom prst="rect">
            <a:avLst/>
          </a:prstGeom>
          <a:solidFill>
            <a:srgbClr val="0D1527"/>
          </a:solidFill>
          <a:ln w="19050">
            <a:solidFill>
              <a:srgbClr val="326CE5"/>
            </a:solidFill>
            <a:prstDash val="solid"/>
          </a:ln>
        </p:spPr>
        <p:txBody>
          <a:bodyPr/>
          <a:lstStyle/>
          <a:p>
            <a:endParaRPr lang="en-US"/>
          </a:p>
        </p:txBody>
      </p:sp>
      <p:sp>
        <p:nvSpPr>
          <p:cNvPr id="15" name="Text 13"/>
          <p:cNvSpPr/>
          <p:nvPr/>
        </p:nvSpPr>
        <p:spPr>
          <a:xfrm>
            <a:off x="4754880" y="1143000"/>
            <a:ext cx="2011680" cy="411480"/>
          </a:xfrm>
          <a:prstGeom prst="rect">
            <a:avLst/>
          </a:prstGeom>
          <a:noFill/>
          <a:ln/>
        </p:spPr>
        <p:txBody>
          <a:bodyPr wrap="square" rtlCol="0" anchor="ctr"/>
          <a:lstStyle/>
          <a:p>
            <a:pPr marL="0" indent="0" algn="ctr">
              <a:buNone/>
            </a:pPr>
            <a:r>
              <a:rPr lang="en-US" sz="2400" b="1" dirty="0">
                <a:solidFill>
                  <a:srgbClr val="326CE5"/>
                </a:solidFill>
                <a:latin typeface="Georgia" pitchFamily="34" charset="0"/>
                <a:ea typeface="Georgia" pitchFamily="34" charset="-122"/>
                <a:cs typeface="Georgia" pitchFamily="34" charset="-120"/>
              </a:rPr>
              <a:t>3</a:t>
            </a:r>
            <a:endParaRPr lang="en-US" sz="2400" dirty="0"/>
          </a:p>
        </p:txBody>
      </p:sp>
      <p:sp>
        <p:nvSpPr>
          <p:cNvPr id="16" name="Text 14"/>
          <p:cNvSpPr/>
          <p:nvPr/>
        </p:nvSpPr>
        <p:spPr>
          <a:xfrm>
            <a:off x="4846320" y="155448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Beta in v1.33</a:t>
            </a:r>
            <a:endParaRPr lang="en-US" sz="1200" dirty="0"/>
          </a:p>
        </p:txBody>
      </p:sp>
      <p:sp>
        <p:nvSpPr>
          <p:cNvPr id="17" name="Text 15"/>
          <p:cNvSpPr/>
          <p:nvPr/>
        </p:nvSpPr>
        <p:spPr>
          <a:xfrm>
            <a:off x="4846320" y="1965960"/>
            <a:ext cx="1828800" cy="9144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Feature gate ON by default.</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Broader testing.</a:t>
            </a:r>
            <a:endParaRPr lang="en-US" sz="900" dirty="0"/>
          </a:p>
        </p:txBody>
      </p:sp>
      <p:sp>
        <p:nvSpPr>
          <p:cNvPr id="18" name="Text 16"/>
          <p:cNvSpPr/>
          <p:nvPr/>
        </p:nvSpPr>
        <p:spPr>
          <a:xfrm>
            <a:off x="4846320" y="2926080"/>
            <a:ext cx="182880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Apr 2025</a:t>
            </a:r>
            <a:endParaRPr lang="en-US" sz="900" dirty="0"/>
          </a:p>
        </p:txBody>
      </p:sp>
      <p:sp>
        <p:nvSpPr>
          <p:cNvPr id="19" name="Shape 17"/>
          <p:cNvSpPr/>
          <p:nvPr/>
        </p:nvSpPr>
        <p:spPr>
          <a:xfrm>
            <a:off x="6949440" y="1097280"/>
            <a:ext cx="2011680" cy="2194560"/>
          </a:xfrm>
          <a:prstGeom prst="rect">
            <a:avLst/>
          </a:prstGeom>
          <a:solidFill>
            <a:srgbClr val="0D1527"/>
          </a:solidFill>
          <a:ln w="19050">
            <a:solidFill>
              <a:srgbClr val="4CAF50"/>
            </a:solidFill>
            <a:prstDash val="solid"/>
          </a:ln>
        </p:spPr>
        <p:txBody>
          <a:bodyPr/>
          <a:lstStyle/>
          <a:p>
            <a:endParaRPr lang="en-US"/>
          </a:p>
        </p:txBody>
      </p:sp>
      <p:sp>
        <p:nvSpPr>
          <p:cNvPr id="20" name="Text 18"/>
          <p:cNvSpPr/>
          <p:nvPr/>
        </p:nvSpPr>
        <p:spPr>
          <a:xfrm>
            <a:off x="6949440" y="1143000"/>
            <a:ext cx="2011680" cy="411480"/>
          </a:xfrm>
          <a:prstGeom prst="rect">
            <a:avLst/>
          </a:prstGeom>
          <a:noFill/>
          <a:ln/>
        </p:spPr>
        <p:txBody>
          <a:bodyPr wrap="square" rtlCol="0" anchor="ctr"/>
          <a:lstStyle/>
          <a:p>
            <a:pPr marL="0" indent="0" algn="ctr">
              <a:buNone/>
            </a:pPr>
            <a:r>
              <a:rPr lang="en-US" sz="2400" b="1" dirty="0">
                <a:solidFill>
                  <a:srgbClr val="4CAF50"/>
                </a:solidFill>
                <a:latin typeface="Georgia" pitchFamily="34" charset="0"/>
                <a:ea typeface="Georgia" pitchFamily="34" charset="-122"/>
                <a:cs typeface="Georgia" pitchFamily="34" charset="-120"/>
              </a:rPr>
              <a:t>4</a:t>
            </a:r>
            <a:endParaRPr lang="en-US" sz="2400" dirty="0"/>
          </a:p>
        </p:txBody>
      </p:sp>
      <p:sp>
        <p:nvSpPr>
          <p:cNvPr id="21" name="Text 19"/>
          <p:cNvSpPr/>
          <p:nvPr/>
        </p:nvSpPr>
        <p:spPr>
          <a:xfrm>
            <a:off x="7040880" y="1554480"/>
            <a:ext cx="18288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GA in v1.35</a:t>
            </a:r>
            <a:endParaRPr lang="en-US" sz="1200" dirty="0"/>
          </a:p>
        </p:txBody>
      </p:sp>
      <p:sp>
        <p:nvSpPr>
          <p:cNvPr id="22" name="Text 20"/>
          <p:cNvSpPr/>
          <p:nvPr/>
        </p:nvSpPr>
        <p:spPr>
          <a:xfrm>
            <a:off x="7040880" y="1965960"/>
            <a:ext cx="1828800" cy="914400"/>
          </a:xfrm>
          <a:prstGeom prst="rect">
            <a:avLst/>
          </a:prstGeom>
          <a:noFill/>
          <a:ln/>
        </p:spPr>
        <p:txBody>
          <a:bodyPr wrap="square"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Feature gate locked.</a:t>
            </a:r>
            <a:endParaRPr lang="en-US" sz="900" dirty="0"/>
          </a:p>
          <a:p>
            <a:pPr marL="0" indent="0" algn="ctr">
              <a:buNone/>
            </a:pPr>
            <a:r>
              <a:rPr lang="en-US" sz="900" dirty="0">
                <a:solidFill>
                  <a:srgbClr val="B0BEC5"/>
                </a:solidFill>
                <a:latin typeface="Calibri" pitchFamily="34" charset="0"/>
                <a:ea typeface="Calibri" pitchFamily="34" charset="-122"/>
                <a:cs typeface="Calibri" pitchFamily="34" charset="-120"/>
              </a:rPr>
              <a:t>Permanent. Shipped Dec 2025.</a:t>
            </a:r>
            <a:endParaRPr lang="en-US" sz="900" dirty="0"/>
          </a:p>
        </p:txBody>
      </p:sp>
      <p:sp>
        <p:nvSpPr>
          <p:cNvPr id="23" name="Text 21"/>
          <p:cNvSpPr/>
          <p:nvPr/>
        </p:nvSpPr>
        <p:spPr>
          <a:xfrm>
            <a:off x="7040880" y="2926080"/>
            <a:ext cx="1828800" cy="274320"/>
          </a:xfrm>
          <a:prstGeom prst="rect">
            <a:avLst/>
          </a:prstGeom>
          <a:noFill/>
          <a:ln/>
        </p:spPr>
        <p:txBody>
          <a:bodyPr wrap="square" rtlCol="0" anchor="ctr"/>
          <a:lstStyle/>
          <a:p>
            <a:pPr marL="0" indent="0" algn="ctr">
              <a:buNone/>
            </a:pPr>
            <a:r>
              <a:rPr lang="en-US" sz="900" dirty="0">
                <a:solidFill>
                  <a:srgbClr val="78909C"/>
                </a:solidFill>
                <a:latin typeface="Calibri" pitchFamily="34" charset="0"/>
                <a:ea typeface="Calibri" pitchFamily="34" charset="-122"/>
                <a:cs typeface="Calibri" pitchFamily="34" charset="-120"/>
              </a:rPr>
              <a:t>Dec 2025</a:t>
            </a:r>
            <a:endParaRPr lang="en-US" sz="900" dirty="0"/>
          </a:p>
        </p:txBody>
      </p:sp>
      <p:sp>
        <p:nvSpPr>
          <p:cNvPr id="24" name="Shape 22"/>
          <p:cNvSpPr/>
          <p:nvPr/>
        </p:nvSpPr>
        <p:spPr>
          <a:xfrm>
            <a:off x="365760" y="3520440"/>
            <a:ext cx="8412480" cy="914400"/>
          </a:xfrm>
          <a:prstGeom prst="rect">
            <a:avLst/>
          </a:prstGeom>
          <a:solidFill>
            <a:srgbClr val="0D1527"/>
          </a:solidFill>
          <a:ln w="12700">
            <a:solidFill>
              <a:srgbClr val="1A2744"/>
            </a:solidFill>
            <a:prstDash val="solid"/>
          </a:ln>
        </p:spPr>
        <p:txBody>
          <a:bodyPr/>
          <a:lstStyle/>
          <a:p>
            <a:endParaRPr lang="en-US"/>
          </a:p>
        </p:txBody>
      </p:sp>
      <p:sp>
        <p:nvSpPr>
          <p:cNvPr id="25" name="Text 23"/>
          <p:cNvSpPr/>
          <p:nvPr/>
        </p:nvSpPr>
        <p:spPr>
          <a:xfrm>
            <a:off x="548640" y="3566160"/>
            <a:ext cx="8046720" cy="8229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8 versions. ~3 years from proposal to stable. That's normal.</a:t>
            </a:r>
            <a:endParaRPr lang="en-US" sz="1300" dirty="0"/>
          </a:p>
          <a:p>
            <a:pPr marL="0" indent="0">
              <a:buNone/>
            </a:pPr>
            <a:endParaRPr lang="en-US" sz="1300" dirty="0"/>
          </a:p>
          <a:p>
            <a:pPr marL="0" indent="0">
              <a:buNone/>
            </a:pPr>
            <a:r>
              <a:rPr lang="en-US" sz="1000" dirty="0">
                <a:solidFill>
                  <a:srgbClr val="B0BEC5"/>
                </a:solidFill>
                <a:latin typeface="Calibri" pitchFamily="34" charset="0"/>
                <a:ea typeface="Calibri" pitchFamily="34" charset="-122"/>
                <a:cs typeface="Calibri" pitchFamily="34" charset="-120"/>
              </a:rPr>
              <a:t>The kep.yaml file in the repo tracks every stage transition.  |  </a:t>
            </a:r>
            <a:endParaRPr lang="en-US" sz="1300" dirty="0"/>
          </a:p>
          <a:p>
            <a:pPr marL="0" indent="0">
              <a:buNone/>
            </a:pPr>
            <a:r>
              <a:rPr lang="en-US" sz="1000" b="1" dirty="0">
                <a:solidFill>
                  <a:srgbClr val="D4A843"/>
                </a:solidFill>
                <a:latin typeface="Consolas" pitchFamily="34" charset="0"/>
                <a:ea typeface="Consolas" pitchFamily="34" charset="-122"/>
                <a:cs typeface="Consolas" pitchFamily="34" charset="-120"/>
              </a:rPr>
              <a:t>kep.k8s.io/1287</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B2D"/>
        </a:solidFill>
        <a:effectLst/>
      </p:bgPr>
    </p:bg>
    <p:spTree>
      <p:nvGrpSpPr>
        <p:cNvPr id="1" name="">
          <a:extLst>
            <a:ext uri="{FF2B5EF4-FFF2-40B4-BE49-F238E27FC236}">
              <a16:creationId xmlns:a16="http://schemas.microsoft.com/office/drawing/2014/main" id="{82F88955-D4EF-19F0-31B6-8E2E90BF78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35AC91E-58A6-2F0B-0059-C2EE8E9D6E93}"/>
              </a:ext>
            </a:extLst>
          </p:cNvPr>
          <p:cNvSpPr/>
          <p:nvPr/>
        </p:nvSpPr>
        <p:spPr>
          <a:xfrm>
            <a:off x="457200" y="228600"/>
            <a:ext cx="82296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Trace a Feature: KEP-1287</a:t>
            </a:r>
            <a:endParaRPr lang="en-US" sz="2200" dirty="0"/>
          </a:p>
        </p:txBody>
      </p:sp>
      <p:pic>
        <p:nvPicPr>
          <p:cNvPr id="27" name="Picture 26">
            <a:extLst>
              <a:ext uri="{FF2B5EF4-FFF2-40B4-BE49-F238E27FC236}">
                <a16:creationId xmlns:a16="http://schemas.microsoft.com/office/drawing/2014/main" id="{6ABBC76A-C532-F2BF-B328-146268D165B4}"/>
              </a:ext>
            </a:extLst>
          </p:cNvPr>
          <p:cNvPicPr>
            <a:picLocks noChangeAspect="1"/>
          </p:cNvPicPr>
          <p:nvPr/>
        </p:nvPicPr>
        <p:blipFill>
          <a:blip r:embed="rId3"/>
          <a:stretch>
            <a:fillRect/>
          </a:stretch>
        </p:blipFill>
        <p:spPr>
          <a:xfrm>
            <a:off x="914399" y="827790"/>
            <a:ext cx="7841673" cy="4087110"/>
          </a:xfrm>
          <a:prstGeom prst="rect">
            <a:avLst/>
          </a:prstGeom>
        </p:spPr>
      </p:pic>
    </p:spTree>
    <p:extLst>
      <p:ext uri="{BB962C8B-B14F-4D97-AF65-F5344CB8AC3E}">
        <p14:creationId xmlns:p14="http://schemas.microsoft.com/office/powerpoint/2010/main" val="3928637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 found a bug in</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Kubernetes. How do I</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even report that?</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28600"/>
            <a:ext cx="45720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File a Bug: 4 Steps</a:t>
            </a:r>
            <a:endParaRPr lang="en-US" sz="2200" dirty="0"/>
          </a:p>
        </p:txBody>
      </p:sp>
      <p:sp>
        <p:nvSpPr>
          <p:cNvPr id="3" name="Text 1"/>
          <p:cNvSpPr/>
          <p:nvPr/>
        </p:nvSpPr>
        <p:spPr>
          <a:xfrm>
            <a:off x="457200" y="822960"/>
            <a:ext cx="457200" cy="457200"/>
          </a:xfrm>
          <a:prstGeom prst="rect">
            <a:avLst/>
          </a:prstGeom>
          <a:noFill/>
          <a:ln/>
        </p:spPr>
        <p:txBody>
          <a:bodyPr wrap="square" rtlCol="0" anchor="ctr"/>
          <a:lstStyle/>
          <a:p>
            <a:pPr marL="0" indent="0">
              <a:buNone/>
            </a:pPr>
            <a:r>
              <a:rPr lang="en-US" sz="2000" b="1" dirty="0">
                <a:solidFill>
                  <a:srgbClr val="326CE5"/>
                </a:solidFill>
                <a:latin typeface="Georgia" pitchFamily="34" charset="0"/>
                <a:ea typeface="Georgia" pitchFamily="34" charset="-122"/>
                <a:cs typeface="Georgia" pitchFamily="34" charset="-120"/>
              </a:rPr>
              <a:t>1</a:t>
            </a:r>
            <a:endParaRPr lang="en-US" sz="2000" dirty="0"/>
          </a:p>
        </p:txBody>
      </p:sp>
      <p:sp>
        <p:nvSpPr>
          <p:cNvPr id="4" name="Text 2"/>
          <p:cNvSpPr/>
          <p:nvPr/>
        </p:nvSpPr>
        <p:spPr>
          <a:xfrm>
            <a:off x="1005840" y="822960"/>
            <a:ext cx="4114800" cy="54864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Open an issue at github.com/kubernetes/kubernetes</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Use the bug report template</a:t>
            </a:r>
            <a:endParaRPr lang="en-US" sz="1100" dirty="0"/>
          </a:p>
        </p:txBody>
      </p:sp>
      <p:sp>
        <p:nvSpPr>
          <p:cNvPr id="5" name="Text 3"/>
          <p:cNvSpPr/>
          <p:nvPr/>
        </p:nvSpPr>
        <p:spPr>
          <a:xfrm>
            <a:off x="457200" y="1828800"/>
            <a:ext cx="457200" cy="457200"/>
          </a:xfrm>
          <a:prstGeom prst="rect">
            <a:avLst/>
          </a:prstGeom>
          <a:noFill/>
          <a:ln/>
        </p:spPr>
        <p:txBody>
          <a:bodyPr wrap="square" rtlCol="0" anchor="ctr"/>
          <a:lstStyle/>
          <a:p>
            <a:pPr marL="0" indent="0">
              <a:buNone/>
            </a:pPr>
            <a:r>
              <a:rPr lang="en-US" sz="2000" b="1" dirty="0">
                <a:solidFill>
                  <a:srgbClr val="326CE5"/>
                </a:solidFill>
                <a:latin typeface="Georgia" pitchFamily="34" charset="0"/>
                <a:ea typeface="Georgia" pitchFamily="34" charset="-122"/>
                <a:cs typeface="Georgia" pitchFamily="34" charset="-120"/>
              </a:rPr>
              <a:t>2</a:t>
            </a:r>
            <a:endParaRPr lang="en-US" sz="2000" dirty="0"/>
          </a:p>
        </p:txBody>
      </p:sp>
      <p:sp>
        <p:nvSpPr>
          <p:cNvPr id="6" name="Text 4"/>
          <p:cNvSpPr/>
          <p:nvPr/>
        </p:nvSpPr>
        <p:spPr>
          <a:xfrm>
            <a:off x="1005840" y="1828800"/>
            <a:ext cx="4114800" cy="54864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Prow bot asks you to categorize.</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Use bot commands (see right)</a:t>
            </a:r>
            <a:endParaRPr lang="en-US" sz="1100" dirty="0"/>
          </a:p>
        </p:txBody>
      </p:sp>
      <p:sp>
        <p:nvSpPr>
          <p:cNvPr id="7" name="Text 5"/>
          <p:cNvSpPr/>
          <p:nvPr/>
        </p:nvSpPr>
        <p:spPr>
          <a:xfrm>
            <a:off x="457200" y="2834640"/>
            <a:ext cx="457200" cy="457200"/>
          </a:xfrm>
          <a:prstGeom prst="rect">
            <a:avLst/>
          </a:prstGeom>
          <a:noFill/>
          <a:ln/>
        </p:spPr>
        <p:txBody>
          <a:bodyPr wrap="square" rtlCol="0" anchor="ctr"/>
          <a:lstStyle/>
          <a:p>
            <a:pPr marL="0" indent="0">
              <a:buNone/>
            </a:pPr>
            <a:r>
              <a:rPr lang="en-US" sz="2000" b="1" dirty="0">
                <a:solidFill>
                  <a:srgbClr val="326CE5"/>
                </a:solidFill>
                <a:latin typeface="Georgia" pitchFamily="34" charset="0"/>
                <a:ea typeface="Georgia" pitchFamily="34" charset="-122"/>
                <a:cs typeface="Georgia" pitchFamily="34" charset="-120"/>
              </a:rPr>
              <a:t>3</a:t>
            </a:r>
            <a:endParaRPr lang="en-US" sz="2000" dirty="0"/>
          </a:p>
        </p:txBody>
      </p:sp>
      <p:sp>
        <p:nvSpPr>
          <p:cNvPr id="8" name="Text 6"/>
          <p:cNvSpPr/>
          <p:nvPr/>
        </p:nvSpPr>
        <p:spPr>
          <a:xfrm>
            <a:off x="1005840" y="2834640"/>
            <a:ext cx="4114800" cy="54864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SIG that owns the area triages</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and prioritizes it</a:t>
            </a:r>
            <a:endParaRPr lang="en-US" sz="1100" dirty="0"/>
          </a:p>
        </p:txBody>
      </p:sp>
      <p:sp>
        <p:nvSpPr>
          <p:cNvPr id="9" name="Text 7"/>
          <p:cNvSpPr/>
          <p:nvPr/>
        </p:nvSpPr>
        <p:spPr>
          <a:xfrm>
            <a:off x="457200" y="3840480"/>
            <a:ext cx="457200" cy="457200"/>
          </a:xfrm>
          <a:prstGeom prst="rect">
            <a:avLst/>
          </a:prstGeom>
          <a:noFill/>
          <a:ln/>
        </p:spPr>
        <p:txBody>
          <a:bodyPr wrap="square" rtlCol="0" anchor="ctr"/>
          <a:lstStyle/>
          <a:p>
            <a:pPr marL="0" indent="0">
              <a:buNone/>
            </a:pPr>
            <a:r>
              <a:rPr lang="en-US" sz="2000" b="1" dirty="0">
                <a:solidFill>
                  <a:srgbClr val="EF5350"/>
                </a:solidFill>
                <a:latin typeface="Georgia" pitchFamily="34" charset="0"/>
                <a:ea typeface="Georgia" pitchFamily="34" charset="-122"/>
                <a:cs typeface="Georgia" pitchFamily="34" charset="-120"/>
              </a:rPr>
              <a:t>4</a:t>
            </a:r>
            <a:endParaRPr lang="en-US" sz="2000" dirty="0"/>
          </a:p>
        </p:txBody>
      </p:sp>
      <p:sp>
        <p:nvSpPr>
          <p:cNvPr id="10" name="Text 8"/>
          <p:cNvSpPr/>
          <p:nvPr/>
        </p:nvSpPr>
        <p:spPr>
          <a:xfrm>
            <a:off x="1005840" y="3840480"/>
            <a:ext cx="4114800" cy="731520"/>
          </a:xfrm>
          <a:prstGeom prst="rect">
            <a:avLst/>
          </a:prstGeom>
          <a:noFill/>
          <a:ln/>
        </p:spPr>
        <p:txBody>
          <a:bodyPr wrap="square" rtlCol="0" anchor="ctr"/>
          <a:lstStyle/>
          <a:p>
            <a:pPr marL="0" indent="0">
              <a:buNone/>
            </a:pPr>
            <a:r>
              <a:rPr lang="en-US" sz="1100" dirty="0">
                <a:solidFill>
                  <a:srgbClr val="EF5350"/>
                </a:solidFill>
                <a:latin typeface="Calibri" pitchFamily="34" charset="0"/>
                <a:ea typeface="Calibri" pitchFamily="34" charset="-122"/>
                <a:cs typeface="Calibri" pitchFamily="34" charset="-120"/>
              </a:rPr>
              <a:t>If it's a SECURITY vulnerability:</a:t>
            </a:r>
            <a:endParaRPr lang="en-US" sz="1100" dirty="0"/>
          </a:p>
          <a:p>
            <a:pPr marL="0" indent="0">
              <a:buNone/>
            </a:pPr>
            <a:r>
              <a:rPr lang="en-US" sz="1100" dirty="0">
                <a:solidFill>
                  <a:srgbClr val="EF5350"/>
                </a:solidFill>
                <a:latin typeface="Calibri" pitchFamily="34" charset="0"/>
                <a:ea typeface="Calibri" pitchFamily="34" charset="-122"/>
                <a:cs typeface="Calibri" pitchFamily="34" charset="-120"/>
              </a:rPr>
              <a:t>DO NOT open a public issue.</a:t>
            </a:r>
            <a:endParaRPr lang="en-US" sz="1100" dirty="0"/>
          </a:p>
          <a:p>
            <a:pPr marL="0" indent="0">
              <a:buNone/>
            </a:pPr>
            <a:r>
              <a:rPr lang="en-US" sz="1100" dirty="0">
                <a:solidFill>
                  <a:srgbClr val="EF5350"/>
                </a:solidFill>
                <a:latin typeface="Calibri" pitchFamily="34" charset="0"/>
                <a:ea typeface="Calibri" pitchFamily="34" charset="-122"/>
                <a:cs typeface="Calibri" pitchFamily="34" charset="-120"/>
              </a:rPr>
              <a:t>Email security@kubernetes.io</a:t>
            </a:r>
            <a:endParaRPr lang="en-US" sz="1100" dirty="0"/>
          </a:p>
        </p:txBody>
      </p:sp>
      <p:sp>
        <p:nvSpPr>
          <p:cNvPr id="24" name="Shape 22"/>
          <p:cNvSpPr/>
          <p:nvPr/>
        </p:nvSpPr>
        <p:spPr>
          <a:xfrm>
            <a:off x="457200" y="4160520"/>
            <a:ext cx="8229600" cy="731520"/>
          </a:xfrm>
          <a:prstGeom prst="rect">
            <a:avLst/>
          </a:prstGeom>
          <a:solidFill>
            <a:srgbClr val="2D1010"/>
          </a:solidFill>
          <a:ln w="12700">
            <a:solidFill>
              <a:srgbClr val="EF5350"/>
            </a:solidFill>
            <a:prstDash val="solid"/>
          </a:ln>
        </p:spPr>
        <p:txBody>
          <a:bodyPr/>
          <a:lstStyle/>
          <a:p>
            <a:endParaRPr lang="en-US"/>
          </a:p>
        </p:txBody>
      </p:sp>
      <p:sp>
        <p:nvSpPr>
          <p:cNvPr id="25" name="Text 23"/>
          <p:cNvSpPr/>
          <p:nvPr/>
        </p:nvSpPr>
        <p:spPr>
          <a:xfrm>
            <a:off x="640080" y="4206240"/>
            <a:ext cx="7863840" cy="640080"/>
          </a:xfrm>
          <a:prstGeom prst="rect">
            <a:avLst/>
          </a:prstGeom>
          <a:noFill/>
          <a:ln/>
        </p:spPr>
        <p:txBody>
          <a:bodyPr wrap="square" rtlCol="0" anchor="ctr"/>
          <a:lstStyle/>
          <a:p>
            <a:pPr marL="0" indent="0">
              <a:buNone/>
            </a:pPr>
            <a:r>
              <a:rPr lang="en-US" sz="1200" b="1" dirty="0">
                <a:solidFill>
                  <a:srgbClr val="EF5350"/>
                </a:solidFill>
                <a:latin typeface="Calibri" pitchFamily="34" charset="0"/>
                <a:ea typeface="Calibri" pitchFamily="34" charset="-122"/>
                <a:cs typeface="Calibri" pitchFamily="34" charset="-120"/>
              </a:rPr>
              <a:t>⚠  SECURITY VULNERABILITIES: </a:t>
            </a:r>
            <a:r>
              <a:rPr lang="en-US" sz="1100" dirty="0">
                <a:solidFill>
                  <a:srgbClr val="B0BEC5"/>
                </a:solidFill>
                <a:latin typeface="Calibri" pitchFamily="34" charset="0"/>
                <a:ea typeface="Calibri" pitchFamily="34" charset="-122"/>
                <a:cs typeface="Calibri" pitchFamily="34" charset="-120"/>
              </a:rPr>
              <a:t>Email security@kubernetes.io — do NOT open a public issue. The Security Response Committee handles these privately.</a:t>
            </a:r>
            <a:endParaRPr lang="en-US" sz="1200" dirty="0"/>
          </a:p>
        </p:txBody>
      </p:sp>
      <p:pic>
        <p:nvPicPr>
          <p:cNvPr id="27" name="Picture 26">
            <a:extLst>
              <a:ext uri="{FF2B5EF4-FFF2-40B4-BE49-F238E27FC236}">
                <a16:creationId xmlns:a16="http://schemas.microsoft.com/office/drawing/2014/main" id="{D1E62F07-4449-0C49-F928-25BB82BC2EDE}"/>
              </a:ext>
            </a:extLst>
          </p:cNvPr>
          <p:cNvPicPr>
            <a:picLocks noChangeAspect="1"/>
          </p:cNvPicPr>
          <p:nvPr/>
        </p:nvPicPr>
        <p:blipFill>
          <a:blip r:embed="rId3"/>
          <a:stretch>
            <a:fillRect/>
          </a:stretch>
        </p:blipFill>
        <p:spPr>
          <a:xfrm>
            <a:off x="4572000" y="68580"/>
            <a:ext cx="4400017" cy="38633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 subscribed to KubeWeekly</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while studying. Am I good?</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The Information Landscape Broke in 2025</a:t>
            </a:r>
            <a:endParaRPr lang="en-US" sz="2000" dirty="0"/>
          </a:p>
        </p:txBody>
      </p:sp>
      <p:sp>
        <p:nvSpPr>
          <p:cNvPr id="3" name="Shape 1"/>
          <p:cNvSpPr/>
          <p:nvPr/>
        </p:nvSpPr>
        <p:spPr>
          <a:xfrm>
            <a:off x="365760" y="777240"/>
            <a:ext cx="1280160" cy="457200"/>
          </a:xfrm>
          <a:prstGeom prst="rect">
            <a:avLst/>
          </a:prstGeom>
          <a:solidFill>
            <a:srgbClr val="EF5350"/>
          </a:solidFill>
          <a:ln w="12700">
            <a:solidFill>
              <a:srgbClr val="EF5350"/>
            </a:solidFill>
            <a:prstDash val="solid"/>
          </a:ln>
        </p:spPr>
        <p:txBody>
          <a:bodyPr/>
          <a:lstStyle/>
          <a:p>
            <a:endParaRPr lang="en-US"/>
          </a:p>
        </p:txBody>
      </p:sp>
      <p:sp>
        <p:nvSpPr>
          <p:cNvPr id="4" name="Text 2"/>
          <p:cNvSpPr/>
          <p:nvPr/>
        </p:nvSpPr>
        <p:spPr>
          <a:xfrm>
            <a:off x="365760" y="777240"/>
            <a:ext cx="128016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DEAD</a:t>
            </a:r>
            <a:endParaRPr lang="en-US" sz="900" dirty="0"/>
          </a:p>
        </p:txBody>
      </p:sp>
      <p:sp>
        <p:nvSpPr>
          <p:cNvPr id="5" name="Text 3"/>
          <p:cNvSpPr/>
          <p:nvPr/>
        </p:nvSpPr>
        <p:spPr>
          <a:xfrm>
            <a:off x="1828800" y="77724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KubeWeekly</a:t>
            </a:r>
            <a:endParaRPr lang="en-US" sz="1200" dirty="0"/>
          </a:p>
        </p:txBody>
      </p:sp>
      <p:sp>
        <p:nvSpPr>
          <p:cNvPr id="6" name="Text 4"/>
          <p:cNvSpPr/>
          <p:nvPr/>
        </p:nvSpPr>
        <p:spPr>
          <a:xfrm>
            <a:off x="4114800" y="77724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Final issue #434, May 2025</a:t>
            </a:r>
            <a:endParaRPr lang="en-US" sz="1000" dirty="0"/>
          </a:p>
        </p:txBody>
      </p:sp>
      <p:sp>
        <p:nvSpPr>
          <p:cNvPr id="7" name="Shape 5"/>
          <p:cNvSpPr/>
          <p:nvPr/>
        </p:nvSpPr>
        <p:spPr>
          <a:xfrm>
            <a:off x="365760" y="1371600"/>
            <a:ext cx="1280160" cy="457200"/>
          </a:xfrm>
          <a:prstGeom prst="rect">
            <a:avLst/>
          </a:prstGeom>
          <a:solidFill>
            <a:srgbClr val="FFA726"/>
          </a:solidFill>
          <a:ln w="12700">
            <a:solidFill>
              <a:srgbClr val="FFA726"/>
            </a:solidFill>
            <a:prstDash val="solid"/>
          </a:ln>
        </p:spPr>
        <p:txBody>
          <a:bodyPr/>
          <a:lstStyle/>
          <a:p>
            <a:endParaRPr lang="en-US"/>
          </a:p>
        </p:txBody>
      </p:sp>
      <p:sp>
        <p:nvSpPr>
          <p:cNvPr id="8" name="Text 6"/>
          <p:cNvSpPr/>
          <p:nvPr/>
        </p:nvSpPr>
        <p:spPr>
          <a:xfrm>
            <a:off x="365760" y="1371600"/>
            <a:ext cx="1280160" cy="457200"/>
          </a:xfrm>
          <a:prstGeom prst="rect">
            <a:avLst/>
          </a:prstGeom>
          <a:noFill/>
          <a:ln/>
        </p:spPr>
        <p:txBody>
          <a:bodyPr wrap="square" rtlCol="0" anchor="ctr"/>
          <a:lstStyle/>
          <a:p>
            <a:pPr marL="0" indent="0" algn="ctr">
              <a:buNone/>
            </a:pPr>
            <a:r>
              <a:rPr lang="en-US" sz="900" b="1" dirty="0">
                <a:solidFill>
                  <a:srgbClr val="0B1120"/>
                </a:solidFill>
                <a:latin typeface="Calibri" pitchFamily="34" charset="0"/>
                <a:ea typeface="Calibri" pitchFamily="34" charset="-122"/>
                <a:cs typeface="Calibri" pitchFamily="34" charset="-120"/>
              </a:rPr>
              <a:t>SURVIVED</a:t>
            </a:r>
            <a:endParaRPr lang="en-US" sz="900" dirty="0"/>
          </a:p>
        </p:txBody>
      </p:sp>
      <p:sp>
        <p:nvSpPr>
          <p:cNvPr id="9" name="Text 7"/>
          <p:cNvSpPr/>
          <p:nvPr/>
        </p:nvSpPr>
        <p:spPr>
          <a:xfrm>
            <a:off x="1828800" y="137160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Kubernetes Slack</a:t>
            </a:r>
            <a:endParaRPr lang="en-US" sz="1200" dirty="0"/>
          </a:p>
        </p:txBody>
      </p:sp>
      <p:sp>
        <p:nvSpPr>
          <p:cNvPr id="10" name="Text 8"/>
          <p:cNvSpPr/>
          <p:nvPr/>
        </p:nvSpPr>
        <p:spPr>
          <a:xfrm>
            <a:off x="4114800" y="137160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Salesforce nearly killed free tier Jun 2025. Reversed last minute. 200K+ members.</a:t>
            </a:r>
            <a:endParaRPr lang="en-US" sz="1000" dirty="0"/>
          </a:p>
        </p:txBody>
      </p:sp>
      <p:sp>
        <p:nvSpPr>
          <p:cNvPr id="11" name="Shape 9"/>
          <p:cNvSpPr/>
          <p:nvPr/>
        </p:nvSpPr>
        <p:spPr>
          <a:xfrm>
            <a:off x="365760" y="1965960"/>
            <a:ext cx="1280160" cy="457200"/>
          </a:xfrm>
          <a:prstGeom prst="rect">
            <a:avLst/>
          </a:prstGeom>
          <a:solidFill>
            <a:srgbClr val="FFA726"/>
          </a:solidFill>
          <a:ln w="12700">
            <a:solidFill>
              <a:srgbClr val="FFA726"/>
            </a:solidFill>
            <a:prstDash val="solid"/>
          </a:ln>
        </p:spPr>
        <p:txBody>
          <a:bodyPr/>
          <a:lstStyle/>
          <a:p>
            <a:endParaRPr lang="en-US"/>
          </a:p>
        </p:txBody>
      </p:sp>
      <p:sp>
        <p:nvSpPr>
          <p:cNvPr id="12" name="Text 10"/>
          <p:cNvSpPr/>
          <p:nvPr/>
        </p:nvSpPr>
        <p:spPr>
          <a:xfrm>
            <a:off x="365760" y="1965960"/>
            <a:ext cx="1280160" cy="457200"/>
          </a:xfrm>
          <a:prstGeom prst="rect">
            <a:avLst/>
          </a:prstGeom>
          <a:noFill/>
          <a:ln/>
        </p:spPr>
        <p:txBody>
          <a:bodyPr wrap="square" rtlCol="0" anchor="ctr"/>
          <a:lstStyle/>
          <a:p>
            <a:pPr marL="0" indent="0" algn="ctr">
              <a:buNone/>
            </a:pPr>
            <a:r>
              <a:rPr lang="en-US" sz="900" b="1" dirty="0">
                <a:solidFill>
                  <a:srgbClr val="0B1120"/>
                </a:solidFill>
                <a:latin typeface="Calibri" pitchFamily="34" charset="0"/>
                <a:ea typeface="Calibri" pitchFamily="34" charset="-122"/>
                <a:cs typeface="Calibri" pitchFamily="34" charset="-120"/>
              </a:rPr>
              <a:t>UNCERTAIN</a:t>
            </a:r>
            <a:endParaRPr lang="en-US" sz="900" dirty="0"/>
          </a:p>
        </p:txBody>
      </p:sp>
      <p:sp>
        <p:nvSpPr>
          <p:cNvPr id="13" name="Text 11"/>
          <p:cNvSpPr/>
          <p:nvPr/>
        </p:nvSpPr>
        <p:spPr>
          <a:xfrm>
            <a:off x="1828800" y="196596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Kubernetes Podcast</a:t>
            </a:r>
            <a:endParaRPr lang="en-US" sz="1200" dirty="0"/>
          </a:p>
        </p:txBody>
      </p:sp>
      <p:sp>
        <p:nvSpPr>
          <p:cNvPr id="14" name="Text 12"/>
          <p:cNvSpPr/>
          <p:nvPr/>
        </p:nvSpPr>
        <p:spPr>
          <a:xfrm>
            <a:off x="4114800" y="196596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Last episode #264, Dec 22 2025. Appears silently ended.</a:t>
            </a:r>
            <a:endParaRPr lang="en-US" sz="1000" dirty="0"/>
          </a:p>
        </p:txBody>
      </p:sp>
      <p:sp>
        <p:nvSpPr>
          <p:cNvPr id="15" name="Shape 13"/>
          <p:cNvSpPr/>
          <p:nvPr/>
        </p:nvSpPr>
        <p:spPr>
          <a:xfrm>
            <a:off x="365760" y="2560320"/>
            <a:ext cx="1280160" cy="457200"/>
          </a:xfrm>
          <a:prstGeom prst="rect">
            <a:avLst/>
          </a:prstGeom>
          <a:solidFill>
            <a:srgbClr val="4CAF50"/>
          </a:solidFill>
          <a:ln w="12700">
            <a:solidFill>
              <a:srgbClr val="4CAF50"/>
            </a:solidFill>
            <a:prstDash val="solid"/>
          </a:ln>
        </p:spPr>
        <p:txBody>
          <a:bodyPr/>
          <a:lstStyle/>
          <a:p>
            <a:endParaRPr lang="en-US"/>
          </a:p>
        </p:txBody>
      </p:sp>
      <p:sp>
        <p:nvSpPr>
          <p:cNvPr id="16" name="Text 14"/>
          <p:cNvSpPr/>
          <p:nvPr/>
        </p:nvSpPr>
        <p:spPr>
          <a:xfrm>
            <a:off x="365760" y="2560320"/>
            <a:ext cx="128016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OFFICIAL</a:t>
            </a:r>
            <a:endParaRPr lang="en-US" sz="900" dirty="0"/>
          </a:p>
        </p:txBody>
      </p:sp>
      <p:sp>
        <p:nvSpPr>
          <p:cNvPr id="17" name="Text 15"/>
          <p:cNvSpPr/>
          <p:nvPr/>
        </p:nvSpPr>
        <p:spPr>
          <a:xfrm>
            <a:off x="1828800" y="256032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Bluesky @kubernetes.io</a:t>
            </a:r>
            <a:endParaRPr lang="en-US" sz="1200" dirty="0"/>
          </a:p>
        </p:txBody>
      </p:sp>
      <p:sp>
        <p:nvSpPr>
          <p:cNvPr id="18" name="Text 16"/>
          <p:cNvSpPr/>
          <p:nvPr/>
        </p:nvSpPr>
        <p:spPr>
          <a:xfrm>
            <a:off x="4114800" y="256032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v1.33 blog directed users here. Listed before X on kubernetes.io/community.</a:t>
            </a:r>
            <a:endParaRPr lang="en-US" sz="1000" dirty="0"/>
          </a:p>
        </p:txBody>
      </p:sp>
      <p:sp>
        <p:nvSpPr>
          <p:cNvPr id="19" name="Shape 17"/>
          <p:cNvSpPr/>
          <p:nvPr/>
        </p:nvSpPr>
        <p:spPr>
          <a:xfrm>
            <a:off x="365760" y="3154680"/>
            <a:ext cx="1280160" cy="457200"/>
          </a:xfrm>
          <a:prstGeom prst="rect">
            <a:avLst/>
          </a:prstGeom>
          <a:solidFill>
            <a:srgbClr val="4CAF50"/>
          </a:solidFill>
          <a:ln w="12700">
            <a:solidFill>
              <a:srgbClr val="4CAF50"/>
            </a:solidFill>
            <a:prstDash val="solid"/>
          </a:ln>
        </p:spPr>
        <p:txBody>
          <a:bodyPr/>
          <a:lstStyle/>
          <a:p>
            <a:endParaRPr lang="en-US"/>
          </a:p>
        </p:txBody>
      </p:sp>
      <p:sp>
        <p:nvSpPr>
          <p:cNvPr id="20" name="Text 18"/>
          <p:cNvSpPr/>
          <p:nvPr/>
        </p:nvSpPr>
        <p:spPr>
          <a:xfrm>
            <a:off x="365760" y="3154680"/>
            <a:ext cx="128016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21" name="Text 19"/>
          <p:cNvSpPr/>
          <p:nvPr/>
        </p:nvSpPr>
        <p:spPr>
          <a:xfrm>
            <a:off x="1828800" y="315468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LWKD (lwkd.info)</a:t>
            </a:r>
            <a:endParaRPr lang="en-US" sz="1200" dirty="0"/>
          </a:p>
        </p:txBody>
      </p:sp>
      <p:sp>
        <p:nvSpPr>
          <p:cNvPr id="22" name="Text 20"/>
          <p:cNvSpPr/>
          <p:nvPr/>
        </p:nvSpPr>
        <p:spPr>
          <a:xfrm>
            <a:off x="4114800" y="315468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Weekly digest of code changes. Your #1 staying-current source.</a:t>
            </a:r>
            <a:endParaRPr lang="en-US" sz="1000" dirty="0"/>
          </a:p>
        </p:txBody>
      </p:sp>
      <p:sp>
        <p:nvSpPr>
          <p:cNvPr id="23" name="Shape 21"/>
          <p:cNvSpPr/>
          <p:nvPr/>
        </p:nvSpPr>
        <p:spPr>
          <a:xfrm>
            <a:off x="365760" y="3749040"/>
            <a:ext cx="1280160" cy="457200"/>
          </a:xfrm>
          <a:prstGeom prst="rect">
            <a:avLst/>
          </a:prstGeom>
          <a:solidFill>
            <a:srgbClr val="4CAF50"/>
          </a:solidFill>
          <a:ln w="12700">
            <a:solidFill>
              <a:srgbClr val="4CAF50"/>
            </a:solidFill>
            <a:prstDash val="solid"/>
          </a:ln>
        </p:spPr>
        <p:txBody>
          <a:bodyPr/>
          <a:lstStyle/>
          <a:p>
            <a:endParaRPr lang="en-US"/>
          </a:p>
        </p:txBody>
      </p:sp>
      <p:sp>
        <p:nvSpPr>
          <p:cNvPr id="24" name="Text 22"/>
          <p:cNvSpPr/>
          <p:nvPr/>
        </p:nvSpPr>
        <p:spPr>
          <a:xfrm>
            <a:off x="365760" y="3749040"/>
            <a:ext cx="128016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NEW</a:t>
            </a:r>
            <a:endParaRPr lang="en-US" sz="900" dirty="0"/>
          </a:p>
        </p:txBody>
      </p:sp>
      <p:sp>
        <p:nvSpPr>
          <p:cNvPr id="25" name="Text 23"/>
          <p:cNvSpPr/>
          <p:nvPr/>
        </p:nvSpPr>
        <p:spPr>
          <a:xfrm>
            <a:off x="1828800" y="374904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Wisdom of the Cloud</a:t>
            </a:r>
            <a:endParaRPr lang="en-US" sz="1200" dirty="0"/>
          </a:p>
        </p:txBody>
      </p:sp>
      <p:sp>
        <p:nvSpPr>
          <p:cNvPr id="26" name="Text 24"/>
          <p:cNvSpPr/>
          <p:nvPr/>
        </p:nvSpPr>
        <p:spPr>
          <a:xfrm>
            <a:off x="4114800" y="374904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CNCF monthly newsletter. Replaced KubeWeekly.</a:t>
            </a:r>
            <a:endParaRPr lang="en-US" sz="1000" dirty="0"/>
          </a:p>
        </p:txBody>
      </p:sp>
      <p:sp>
        <p:nvSpPr>
          <p:cNvPr id="27" name="Shape 25"/>
          <p:cNvSpPr/>
          <p:nvPr/>
        </p:nvSpPr>
        <p:spPr>
          <a:xfrm>
            <a:off x="365760" y="4343400"/>
            <a:ext cx="1280160" cy="457200"/>
          </a:xfrm>
          <a:prstGeom prst="rect">
            <a:avLst/>
          </a:prstGeom>
          <a:solidFill>
            <a:srgbClr val="4CAF50"/>
          </a:solidFill>
          <a:ln w="12700">
            <a:solidFill>
              <a:srgbClr val="4CAF50"/>
            </a:solidFill>
            <a:prstDash val="solid"/>
          </a:ln>
        </p:spPr>
        <p:txBody>
          <a:bodyPr/>
          <a:lstStyle/>
          <a:p>
            <a:endParaRPr lang="en-US"/>
          </a:p>
        </p:txBody>
      </p:sp>
      <p:sp>
        <p:nvSpPr>
          <p:cNvPr id="28" name="Text 26"/>
          <p:cNvSpPr/>
          <p:nvPr/>
        </p:nvSpPr>
        <p:spPr>
          <a:xfrm>
            <a:off x="365760" y="4343400"/>
            <a:ext cx="1280160" cy="4572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ACTIVE</a:t>
            </a:r>
            <a:endParaRPr lang="en-US" sz="900" dirty="0"/>
          </a:p>
        </p:txBody>
      </p:sp>
      <p:sp>
        <p:nvSpPr>
          <p:cNvPr id="29" name="Text 27"/>
          <p:cNvSpPr/>
          <p:nvPr/>
        </p:nvSpPr>
        <p:spPr>
          <a:xfrm>
            <a:off x="1828800" y="4343400"/>
            <a:ext cx="228600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kubernetes-security-announce</a:t>
            </a:r>
            <a:endParaRPr lang="en-US" sz="1200" dirty="0"/>
          </a:p>
        </p:txBody>
      </p:sp>
      <p:sp>
        <p:nvSpPr>
          <p:cNvPr id="30" name="Text 28"/>
          <p:cNvSpPr/>
          <p:nvPr/>
        </p:nvSpPr>
        <p:spPr>
          <a:xfrm>
            <a:off x="4114800" y="4343400"/>
            <a:ext cx="4754880" cy="457200"/>
          </a:xfrm>
          <a:prstGeom prst="rect">
            <a:avLst/>
          </a:prstGeom>
          <a:noFill/>
          <a:ln/>
        </p:spPr>
        <p:txBody>
          <a:bodyPr wrap="square" rtlCol="0" anchor="ctr"/>
          <a:lstStyle/>
          <a:p>
            <a:pPr marL="0" indent="0">
              <a:buNone/>
            </a:pPr>
            <a:r>
              <a:rPr lang="en-US" sz="1000" dirty="0">
                <a:solidFill>
                  <a:srgbClr val="B0BEC5"/>
                </a:solidFill>
                <a:latin typeface="Calibri" pitchFamily="34" charset="0"/>
                <a:ea typeface="Calibri" pitchFamily="34" charset="-122"/>
                <a:cs typeface="Calibri" pitchFamily="34" charset="-120"/>
              </a:rPr>
              <a:t>Every CVE lands here first. Non-negotiable.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B2D"/>
        </a:solidFill>
        <a:effectLst/>
      </p:bgPr>
    </p:bg>
    <p:spTree>
      <p:nvGrpSpPr>
        <p:cNvPr id="1" name="">
          <a:extLst>
            <a:ext uri="{FF2B5EF4-FFF2-40B4-BE49-F238E27FC236}">
              <a16:creationId xmlns:a16="http://schemas.microsoft.com/office/drawing/2014/main" id="{7C5DF8BE-A6E0-14D0-43B8-5082328524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D27080-A1F3-3D76-C881-702E6D4AAFED}"/>
              </a:ext>
            </a:extLst>
          </p:cNvPr>
          <p:cNvSpPr/>
          <p:nvPr/>
        </p:nvSpPr>
        <p:spPr>
          <a:xfrm>
            <a:off x="457200" y="228600"/>
            <a:ext cx="8229600" cy="41148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The Information Landscape Broke in 2025</a:t>
            </a:r>
            <a:endParaRPr lang="en-US" sz="2000" dirty="0"/>
          </a:p>
        </p:txBody>
      </p:sp>
      <p:pic>
        <p:nvPicPr>
          <p:cNvPr id="35" name="Picture 34">
            <a:extLst>
              <a:ext uri="{FF2B5EF4-FFF2-40B4-BE49-F238E27FC236}">
                <a16:creationId xmlns:a16="http://schemas.microsoft.com/office/drawing/2014/main" id="{A92D5C95-99B8-78A4-D27E-241CB3B78DDF}"/>
              </a:ext>
            </a:extLst>
          </p:cNvPr>
          <p:cNvPicPr>
            <a:picLocks noChangeAspect="1"/>
          </p:cNvPicPr>
          <p:nvPr/>
        </p:nvPicPr>
        <p:blipFill>
          <a:blip r:embed="rId3"/>
          <a:stretch>
            <a:fillRect/>
          </a:stretch>
        </p:blipFill>
        <p:spPr>
          <a:xfrm>
            <a:off x="1561195" y="717167"/>
            <a:ext cx="6021609" cy="4348747"/>
          </a:xfrm>
          <a:prstGeom prst="rect">
            <a:avLst/>
          </a:prstGeom>
        </p:spPr>
      </p:pic>
    </p:spTree>
    <p:extLst>
      <p:ext uri="{BB962C8B-B14F-4D97-AF65-F5344CB8AC3E}">
        <p14:creationId xmlns:p14="http://schemas.microsoft.com/office/powerpoint/2010/main" val="4055194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B2D"/>
        </a:solidFill>
        <a:effectLst/>
      </p:bgPr>
    </p:bg>
    <p:spTree>
      <p:nvGrpSpPr>
        <p:cNvPr id="1" name="">
          <a:extLst>
            <a:ext uri="{FF2B5EF4-FFF2-40B4-BE49-F238E27FC236}">
              <a16:creationId xmlns:a16="http://schemas.microsoft.com/office/drawing/2014/main" id="{C93C4E33-AC52-C99F-8D0F-9477D6A9F8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535A14-91FB-56A9-29B7-B32EEA26C20C}"/>
              </a:ext>
            </a:extLst>
          </p:cNvPr>
          <p:cNvSpPr/>
          <p:nvPr/>
        </p:nvSpPr>
        <p:spPr>
          <a:xfrm>
            <a:off x="457200" y="228600"/>
            <a:ext cx="8229600" cy="41148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The Information Landscape Broke in 2025</a:t>
            </a:r>
            <a:endParaRPr lang="en-US" sz="2000" dirty="0"/>
          </a:p>
        </p:txBody>
      </p:sp>
      <p:pic>
        <p:nvPicPr>
          <p:cNvPr id="6" name="Picture 5">
            <a:extLst>
              <a:ext uri="{FF2B5EF4-FFF2-40B4-BE49-F238E27FC236}">
                <a16:creationId xmlns:a16="http://schemas.microsoft.com/office/drawing/2014/main" id="{7FB2C736-589F-CB2F-456A-3C6538164FAB}"/>
              </a:ext>
            </a:extLst>
          </p:cNvPr>
          <p:cNvPicPr>
            <a:picLocks noChangeAspect="1"/>
          </p:cNvPicPr>
          <p:nvPr/>
        </p:nvPicPr>
        <p:blipFill>
          <a:blip r:embed="rId3"/>
          <a:stretch>
            <a:fillRect/>
          </a:stretch>
        </p:blipFill>
        <p:spPr>
          <a:xfrm>
            <a:off x="2122515" y="799443"/>
            <a:ext cx="5717635" cy="4115457"/>
          </a:xfrm>
          <a:prstGeom prst="rect">
            <a:avLst/>
          </a:prstGeom>
        </p:spPr>
      </p:pic>
    </p:spTree>
    <p:extLst>
      <p:ext uri="{BB962C8B-B14F-4D97-AF65-F5344CB8AC3E}">
        <p14:creationId xmlns:p14="http://schemas.microsoft.com/office/powerpoint/2010/main" val="2803800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I’m overwhelmed. What do</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I actually need?</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The Non-Negotiable Five</a:t>
            </a:r>
            <a:endParaRPr lang="en-US" sz="2200" dirty="0"/>
          </a:p>
        </p:txBody>
      </p:sp>
      <p:sp>
        <p:nvSpPr>
          <p:cNvPr id="3" name="Text 1"/>
          <p:cNvSpPr/>
          <p:nvPr/>
        </p:nvSpPr>
        <p:spPr>
          <a:xfrm>
            <a:off x="457200" y="594360"/>
            <a:ext cx="822960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Subscribe once. Zero time until something fires.</a:t>
            </a:r>
            <a:endParaRPr lang="en-US" sz="1100" dirty="0"/>
          </a:p>
        </p:txBody>
      </p:sp>
      <p:sp>
        <p:nvSpPr>
          <p:cNvPr id="4" name="Shape 2"/>
          <p:cNvSpPr/>
          <p:nvPr/>
        </p:nvSpPr>
        <p:spPr>
          <a:xfrm>
            <a:off x="365760" y="1005840"/>
            <a:ext cx="457200" cy="502920"/>
          </a:xfrm>
          <a:prstGeom prst="rect">
            <a:avLst/>
          </a:prstGeom>
          <a:solidFill>
            <a:srgbClr val="326CE5"/>
          </a:solidFill>
          <a:ln/>
        </p:spPr>
        <p:txBody>
          <a:bodyPr/>
          <a:lstStyle/>
          <a:p>
            <a:endParaRPr lang="en-US"/>
          </a:p>
        </p:txBody>
      </p:sp>
      <p:sp>
        <p:nvSpPr>
          <p:cNvPr id="5" name="Text 3"/>
          <p:cNvSpPr/>
          <p:nvPr/>
        </p:nvSpPr>
        <p:spPr>
          <a:xfrm>
            <a:off x="365760" y="1005840"/>
            <a:ext cx="45720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005840" y="1005840"/>
            <a:ext cx="32004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kubernetes-security-announce</a:t>
            </a:r>
            <a:endParaRPr lang="en-US" sz="1300" dirty="0"/>
          </a:p>
        </p:txBody>
      </p:sp>
      <p:sp>
        <p:nvSpPr>
          <p:cNvPr id="7" name="Text 5"/>
          <p:cNvSpPr/>
          <p:nvPr/>
        </p:nvSpPr>
        <p:spPr>
          <a:xfrm>
            <a:off x="1005840" y="1261872"/>
            <a:ext cx="3200400" cy="228600"/>
          </a:xfrm>
          <a:prstGeom prst="rect">
            <a:avLst/>
          </a:prstGeom>
          <a:noFill/>
          <a:ln/>
        </p:spPr>
        <p:txBody>
          <a:bodyPr wrap="square" rtlCol="0" anchor="ctr"/>
          <a:lstStyle/>
          <a:p>
            <a:pPr marL="0" indent="0">
              <a:buNone/>
            </a:pPr>
            <a:r>
              <a:rPr lang="en-US" sz="900" dirty="0">
                <a:solidFill>
                  <a:srgbClr val="78909C"/>
                </a:solidFill>
                <a:latin typeface="Calibri" pitchFamily="34" charset="0"/>
                <a:ea typeface="Calibri" pitchFamily="34" charset="-122"/>
                <a:cs typeface="Calibri" pitchFamily="34" charset="-120"/>
              </a:rPr>
              <a:t>Every CVE lands here first</a:t>
            </a:r>
            <a:endParaRPr lang="en-US" sz="900" dirty="0"/>
          </a:p>
        </p:txBody>
      </p:sp>
      <p:sp>
        <p:nvSpPr>
          <p:cNvPr id="8" name="Text 6"/>
          <p:cNvSpPr/>
          <p:nvPr/>
        </p:nvSpPr>
        <p:spPr>
          <a:xfrm>
            <a:off x="4572000" y="1005840"/>
            <a:ext cx="4114800" cy="502920"/>
          </a:xfrm>
          <a:prstGeom prst="rect">
            <a:avLst/>
          </a:prstGeom>
          <a:noFill/>
          <a:ln/>
        </p:spPr>
        <p:txBody>
          <a:bodyPr wrap="square" rtlCol="0" anchor="ctr"/>
          <a:lstStyle/>
          <a:p>
            <a:pPr marL="0" indent="0">
              <a:buNone/>
            </a:pPr>
            <a:r>
              <a:rPr lang="en-US" sz="900" dirty="0">
                <a:solidFill>
                  <a:srgbClr val="D4A843"/>
                </a:solidFill>
                <a:latin typeface="Consolas" pitchFamily="34" charset="0"/>
                <a:ea typeface="Consolas" pitchFamily="34" charset="-122"/>
                <a:cs typeface="Consolas" pitchFamily="34" charset="-120"/>
              </a:rPr>
              <a:t>groups.google.com/g/kubernetes-security-announce</a:t>
            </a:r>
            <a:endParaRPr lang="en-US" sz="900" dirty="0"/>
          </a:p>
        </p:txBody>
      </p:sp>
      <p:sp>
        <p:nvSpPr>
          <p:cNvPr id="9" name="Shape 7"/>
          <p:cNvSpPr/>
          <p:nvPr/>
        </p:nvSpPr>
        <p:spPr>
          <a:xfrm>
            <a:off x="365760" y="1664208"/>
            <a:ext cx="457200" cy="502920"/>
          </a:xfrm>
          <a:prstGeom prst="rect">
            <a:avLst/>
          </a:prstGeom>
          <a:solidFill>
            <a:srgbClr val="326CE5"/>
          </a:solidFill>
          <a:ln/>
        </p:spPr>
        <p:txBody>
          <a:bodyPr/>
          <a:lstStyle/>
          <a:p>
            <a:endParaRPr lang="en-US"/>
          </a:p>
        </p:txBody>
      </p:sp>
      <p:sp>
        <p:nvSpPr>
          <p:cNvPr id="10" name="Text 8"/>
          <p:cNvSpPr/>
          <p:nvPr/>
        </p:nvSpPr>
        <p:spPr>
          <a:xfrm>
            <a:off x="365760" y="1664208"/>
            <a:ext cx="45720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005840" y="1664208"/>
            <a:ext cx="32004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LWKD</a:t>
            </a:r>
            <a:endParaRPr lang="en-US" sz="1300" dirty="0"/>
          </a:p>
        </p:txBody>
      </p:sp>
      <p:sp>
        <p:nvSpPr>
          <p:cNvPr id="12" name="Text 10"/>
          <p:cNvSpPr/>
          <p:nvPr/>
        </p:nvSpPr>
        <p:spPr>
          <a:xfrm>
            <a:off x="1005840" y="1920240"/>
            <a:ext cx="3200400" cy="228600"/>
          </a:xfrm>
          <a:prstGeom prst="rect">
            <a:avLst/>
          </a:prstGeom>
          <a:noFill/>
          <a:ln/>
        </p:spPr>
        <p:txBody>
          <a:bodyPr wrap="square" rtlCol="0" anchor="ctr"/>
          <a:lstStyle/>
          <a:p>
            <a:pPr marL="0" indent="0">
              <a:buNone/>
            </a:pPr>
            <a:r>
              <a:rPr lang="en-US" sz="900" dirty="0">
                <a:solidFill>
                  <a:srgbClr val="78909C"/>
                </a:solidFill>
                <a:latin typeface="Calibri" pitchFamily="34" charset="0"/>
                <a:ea typeface="Calibri" pitchFamily="34" charset="-122"/>
                <a:cs typeface="Calibri" pitchFamily="34" charset="-120"/>
              </a:rPr>
              <a:t>Weekly digest of code changes and deprecations</a:t>
            </a:r>
            <a:endParaRPr lang="en-US" sz="900" dirty="0"/>
          </a:p>
        </p:txBody>
      </p:sp>
      <p:sp>
        <p:nvSpPr>
          <p:cNvPr id="13" name="Text 11"/>
          <p:cNvSpPr/>
          <p:nvPr/>
        </p:nvSpPr>
        <p:spPr>
          <a:xfrm>
            <a:off x="4572000" y="1664208"/>
            <a:ext cx="4114800" cy="502920"/>
          </a:xfrm>
          <a:prstGeom prst="rect">
            <a:avLst/>
          </a:prstGeom>
          <a:noFill/>
          <a:ln/>
        </p:spPr>
        <p:txBody>
          <a:bodyPr wrap="square" rtlCol="0" anchor="ctr"/>
          <a:lstStyle/>
          <a:p>
            <a:pPr marL="0" indent="0">
              <a:buNone/>
            </a:pPr>
            <a:r>
              <a:rPr lang="en-US" sz="900" dirty="0">
                <a:solidFill>
                  <a:srgbClr val="D4A843"/>
                </a:solidFill>
                <a:latin typeface="Consolas" pitchFamily="34" charset="0"/>
                <a:ea typeface="Consolas" pitchFamily="34" charset="-122"/>
                <a:cs typeface="Consolas" pitchFamily="34" charset="-120"/>
              </a:rPr>
              <a:t>lwkd.info</a:t>
            </a:r>
            <a:endParaRPr lang="en-US" sz="900" dirty="0"/>
          </a:p>
        </p:txBody>
      </p:sp>
      <p:sp>
        <p:nvSpPr>
          <p:cNvPr id="14" name="Shape 12"/>
          <p:cNvSpPr/>
          <p:nvPr/>
        </p:nvSpPr>
        <p:spPr>
          <a:xfrm>
            <a:off x="365760" y="2322576"/>
            <a:ext cx="457200" cy="502920"/>
          </a:xfrm>
          <a:prstGeom prst="rect">
            <a:avLst/>
          </a:prstGeom>
          <a:solidFill>
            <a:srgbClr val="326CE5"/>
          </a:solidFill>
          <a:ln/>
        </p:spPr>
        <p:txBody>
          <a:bodyPr/>
          <a:lstStyle/>
          <a:p>
            <a:endParaRPr lang="en-US"/>
          </a:p>
        </p:txBody>
      </p:sp>
      <p:sp>
        <p:nvSpPr>
          <p:cNvPr id="15" name="Text 13"/>
          <p:cNvSpPr/>
          <p:nvPr/>
        </p:nvSpPr>
        <p:spPr>
          <a:xfrm>
            <a:off x="365760" y="2322576"/>
            <a:ext cx="45720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005840" y="2322576"/>
            <a:ext cx="32004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Kubernetes blog RSS</a:t>
            </a:r>
            <a:endParaRPr lang="en-US" sz="1300" dirty="0"/>
          </a:p>
        </p:txBody>
      </p:sp>
      <p:sp>
        <p:nvSpPr>
          <p:cNvPr id="17" name="Text 15"/>
          <p:cNvSpPr/>
          <p:nvPr/>
        </p:nvSpPr>
        <p:spPr>
          <a:xfrm>
            <a:off x="1005840" y="2578608"/>
            <a:ext cx="3200400" cy="228600"/>
          </a:xfrm>
          <a:prstGeom prst="rect">
            <a:avLst/>
          </a:prstGeom>
          <a:noFill/>
          <a:ln/>
        </p:spPr>
        <p:txBody>
          <a:bodyPr wrap="square" rtlCol="0" anchor="ctr"/>
          <a:lstStyle/>
          <a:p>
            <a:pPr marL="0" indent="0">
              <a:buNone/>
            </a:pPr>
            <a:r>
              <a:rPr lang="en-US" sz="900" dirty="0">
                <a:solidFill>
                  <a:srgbClr val="78909C"/>
                </a:solidFill>
                <a:latin typeface="Calibri" pitchFamily="34" charset="0"/>
                <a:ea typeface="Calibri" pitchFamily="34" charset="-122"/>
                <a:cs typeface="Calibri" pitchFamily="34" charset="-120"/>
              </a:rPr>
              <a:t>Release announcements, deprecation notices</a:t>
            </a:r>
            <a:endParaRPr lang="en-US" sz="900" dirty="0"/>
          </a:p>
        </p:txBody>
      </p:sp>
      <p:sp>
        <p:nvSpPr>
          <p:cNvPr id="18" name="Text 16"/>
          <p:cNvSpPr/>
          <p:nvPr/>
        </p:nvSpPr>
        <p:spPr>
          <a:xfrm>
            <a:off x="4572000" y="2322576"/>
            <a:ext cx="4114800" cy="502920"/>
          </a:xfrm>
          <a:prstGeom prst="rect">
            <a:avLst/>
          </a:prstGeom>
          <a:noFill/>
          <a:ln/>
        </p:spPr>
        <p:txBody>
          <a:bodyPr wrap="square" rtlCol="0" anchor="ctr"/>
          <a:lstStyle/>
          <a:p>
            <a:pPr marL="0" indent="0">
              <a:buNone/>
            </a:pPr>
            <a:r>
              <a:rPr lang="en-US" sz="900" dirty="0">
                <a:solidFill>
                  <a:srgbClr val="D4A843"/>
                </a:solidFill>
                <a:latin typeface="Consolas" pitchFamily="34" charset="0"/>
                <a:ea typeface="Consolas" pitchFamily="34" charset="-122"/>
                <a:cs typeface="Consolas" pitchFamily="34" charset="-120"/>
              </a:rPr>
              <a:t>kubernetes.io/blog</a:t>
            </a:r>
            <a:endParaRPr lang="en-US" sz="900" dirty="0"/>
          </a:p>
        </p:txBody>
      </p:sp>
      <p:sp>
        <p:nvSpPr>
          <p:cNvPr id="19" name="Shape 17"/>
          <p:cNvSpPr/>
          <p:nvPr/>
        </p:nvSpPr>
        <p:spPr>
          <a:xfrm>
            <a:off x="365760" y="2980944"/>
            <a:ext cx="457200" cy="502920"/>
          </a:xfrm>
          <a:prstGeom prst="rect">
            <a:avLst/>
          </a:prstGeom>
          <a:solidFill>
            <a:srgbClr val="326CE5"/>
          </a:solidFill>
          <a:ln/>
        </p:spPr>
        <p:txBody>
          <a:bodyPr/>
          <a:lstStyle/>
          <a:p>
            <a:endParaRPr lang="en-US"/>
          </a:p>
        </p:txBody>
      </p:sp>
      <p:sp>
        <p:nvSpPr>
          <p:cNvPr id="20" name="Text 18"/>
          <p:cNvSpPr/>
          <p:nvPr/>
        </p:nvSpPr>
        <p:spPr>
          <a:xfrm>
            <a:off x="365760" y="2980944"/>
            <a:ext cx="45720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1005840" y="2980944"/>
            <a:ext cx="32004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GitHub Releases Only watch</a:t>
            </a:r>
            <a:endParaRPr lang="en-US" sz="1300" dirty="0"/>
          </a:p>
        </p:txBody>
      </p:sp>
      <p:sp>
        <p:nvSpPr>
          <p:cNvPr id="22" name="Text 20"/>
          <p:cNvSpPr/>
          <p:nvPr/>
        </p:nvSpPr>
        <p:spPr>
          <a:xfrm>
            <a:off x="1005840" y="3236976"/>
            <a:ext cx="3200400" cy="228600"/>
          </a:xfrm>
          <a:prstGeom prst="rect">
            <a:avLst/>
          </a:prstGeom>
          <a:noFill/>
          <a:ln/>
        </p:spPr>
        <p:txBody>
          <a:bodyPr wrap="square" rtlCol="0" anchor="ctr"/>
          <a:lstStyle/>
          <a:p>
            <a:pPr marL="0" indent="0">
              <a:buNone/>
            </a:pPr>
            <a:r>
              <a:rPr lang="en-US" sz="900" dirty="0">
                <a:solidFill>
                  <a:srgbClr val="78909C"/>
                </a:solidFill>
                <a:latin typeface="Calibri" pitchFamily="34" charset="0"/>
                <a:ea typeface="Calibri" pitchFamily="34" charset="-122"/>
                <a:cs typeface="Calibri" pitchFamily="34" charset="-120"/>
              </a:rPr>
              <a:t>One notification per release</a:t>
            </a:r>
            <a:endParaRPr lang="en-US" sz="900" dirty="0"/>
          </a:p>
        </p:txBody>
      </p:sp>
      <p:sp>
        <p:nvSpPr>
          <p:cNvPr id="23" name="Text 21"/>
          <p:cNvSpPr/>
          <p:nvPr/>
        </p:nvSpPr>
        <p:spPr>
          <a:xfrm>
            <a:off x="4572000" y="2980944"/>
            <a:ext cx="4114800" cy="502920"/>
          </a:xfrm>
          <a:prstGeom prst="rect">
            <a:avLst/>
          </a:prstGeom>
          <a:noFill/>
          <a:ln/>
        </p:spPr>
        <p:txBody>
          <a:bodyPr wrap="square" rtlCol="0" anchor="ctr"/>
          <a:lstStyle/>
          <a:p>
            <a:pPr marL="0" indent="0">
              <a:buNone/>
            </a:pPr>
            <a:r>
              <a:rPr lang="en-US" sz="900" dirty="0">
                <a:solidFill>
                  <a:srgbClr val="D4A843"/>
                </a:solidFill>
                <a:latin typeface="Consolas" pitchFamily="34" charset="0"/>
                <a:ea typeface="Consolas" pitchFamily="34" charset="-122"/>
                <a:cs typeface="Consolas" pitchFamily="34" charset="-120"/>
              </a:rPr>
              <a:t>github.com/kubernetes/kubernetes</a:t>
            </a:r>
            <a:endParaRPr lang="en-US" sz="900" dirty="0"/>
          </a:p>
        </p:txBody>
      </p:sp>
      <p:sp>
        <p:nvSpPr>
          <p:cNvPr id="24" name="Shape 22"/>
          <p:cNvSpPr/>
          <p:nvPr/>
        </p:nvSpPr>
        <p:spPr>
          <a:xfrm>
            <a:off x="365760" y="3639312"/>
            <a:ext cx="457200" cy="502920"/>
          </a:xfrm>
          <a:prstGeom prst="rect">
            <a:avLst/>
          </a:prstGeom>
          <a:solidFill>
            <a:srgbClr val="326CE5"/>
          </a:solidFill>
          <a:ln/>
        </p:spPr>
        <p:txBody>
          <a:bodyPr/>
          <a:lstStyle/>
          <a:p>
            <a:endParaRPr lang="en-US"/>
          </a:p>
        </p:txBody>
      </p:sp>
      <p:sp>
        <p:nvSpPr>
          <p:cNvPr id="25" name="Text 23"/>
          <p:cNvSpPr/>
          <p:nvPr/>
        </p:nvSpPr>
        <p:spPr>
          <a:xfrm>
            <a:off x="365760" y="3639312"/>
            <a:ext cx="45720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6" name="Text 24"/>
          <p:cNvSpPr/>
          <p:nvPr/>
        </p:nvSpPr>
        <p:spPr>
          <a:xfrm>
            <a:off x="1005840" y="3639312"/>
            <a:ext cx="320040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Official CVE JSON feed</a:t>
            </a:r>
            <a:endParaRPr lang="en-US" sz="1300" dirty="0"/>
          </a:p>
        </p:txBody>
      </p:sp>
      <p:sp>
        <p:nvSpPr>
          <p:cNvPr id="27" name="Text 25"/>
          <p:cNvSpPr/>
          <p:nvPr/>
        </p:nvSpPr>
        <p:spPr>
          <a:xfrm>
            <a:off x="1005840" y="3895344"/>
            <a:ext cx="3200400" cy="228600"/>
          </a:xfrm>
          <a:prstGeom prst="rect">
            <a:avLst/>
          </a:prstGeom>
          <a:noFill/>
          <a:ln/>
        </p:spPr>
        <p:txBody>
          <a:bodyPr wrap="square" rtlCol="0" anchor="ctr"/>
          <a:lstStyle/>
          <a:p>
            <a:pPr marL="0" indent="0">
              <a:buNone/>
            </a:pPr>
            <a:r>
              <a:rPr lang="en-US" sz="900" dirty="0">
                <a:solidFill>
                  <a:srgbClr val="78909C"/>
                </a:solidFill>
                <a:latin typeface="Calibri" pitchFamily="34" charset="0"/>
                <a:ea typeface="Calibri" pitchFamily="34" charset="-122"/>
                <a:cs typeface="Calibri" pitchFamily="34" charset="-120"/>
              </a:rPr>
              <a:t>Machine-readable feed from Security Response Committee</a:t>
            </a:r>
            <a:endParaRPr lang="en-US" sz="900" dirty="0"/>
          </a:p>
        </p:txBody>
      </p:sp>
      <p:sp>
        <p:nvSpPr>
          <p:cNvPr id="28" name="Text 26"/>
          <p:cNvSpPr/>
          <p:nvPr/>
        </p:nvSpPr>
        <p:spPr>
          <a:xfrm>
            <a:off x="4572000" y="3639312"/>
            <a:ext cx="4114800" cy="502920"/>
          </a:xfrm>
          <a:prstGeom prst="rect">
            <a:avLst/>
          </a:prstGeom>
          <a:noFill/>
          <a:ln/>
        </p:spPr>
        <p:txBody>
          <a:bodyPr wrap="square" rtlCol="0" anchor="ctr"/>
          <a:lstStyle/>
          <a:p>
            <a:pPr marL="0" indent="0">
              <a:buNone/>
            </a:pPr>
            <a:r>
              <a:rPr lang="en-US" sz="900" dirty="0">
                <a:solidFill>
                  <a:srgbClr val="D4A843"/>
                </a:solidFill>
                <a:latin typeface="Consolas" pitchFamily="34" charset="0"/>
                <a:ea typeface="Consolas" pitchFamily="34" charset="-122"/>
                <a:cs typeface="Consolas" pitchFamily="34" charset="-120"/>
              </a:rPr>
              <a:t>k8s.io/docs/reference/issues-security/official-cve-feed/</a:t>
            </a:r>
            <a:endParaRPr lang="en-US" sz="900" dirty="0"/>
          </a:p>
        </p:txBody>
      </p:sp>
      <p:sp>
        <p:nvSpPr>
          <p:cNvPr id="29" name="Shape 27"/>
          <p:cNvSpPr/>
          <p:nvPr/>
        </p:nvSpPr>
        <p:spPr>
          <a:xfrm>
            <a:off x="365760" y="4389120"/>
            <a:ext cx="8412480" cy="548640"/>
          </a:xfrm>
          <a:prstGeom prst="rect">
            <a:avLst/>
          </a:prstGeom>
          <a:solidFill>
            <a:srgbClr val="0D1527"/>
          </a:solidFill>
          <a:ln w="12700">
            <a:solidFill>
              <a:srgbClr val="1A2744"/>
            </a:solidFill>
            <a:prstDash val="solid"/>
          </a:ln>
        </p:spPr>
        <p:txBody>
          <a:bodyPr/>
          <a:lstStyle/>
          <a:p>
            <a:endParaRPr lang="en-US"/>
          </a:p>
        </p:txBody>
      </p:sp>
      <p:sp>
        <p:nvSpPr>
          <p:cNvPr id="30" name="Text 28"/>
          <p:cNvSpPr/>
          <p:nvPr/>
        </p:nvSpPr>
        <p:spPr>
          <a:xfrm>
            <a:off x="548640" y="4434840"/>
            <a:ext cx="8046720" cy="457200"/>
          </a:xfrm>
          <a:prstGeom prst="rect">
            <a:avLst/>
          </a:prstGeom>
          <a:noFill/>
          <a:ln/>
        </p:spPr>
        <p:txBody>
          <a:bodyPr wrap="square" rtlCol="0" anchor="ctr"/>
          <a:lstStyle/>
          <a:p>
            <a:pPr marL="0" indent="0">
              <a:buNone/>
            </a:pPr>
            <a:r>
              <a:rPr lang="en-US" sz="1100" b="1" dirty="0">
                <a:solidFill>
                  <a:srgbClr val="D4A843"/>
                </a:solidFill>
                <a:latin typeface="Calibri" pitchFamily="34" charset="0"/>
                <a:ea typeface="Calibri" pitchFamily="34" charset="-122"/>
                <a:cs typeface="Calibri" pitchFamily="34" charset="-120"/>
              </a:rPr>
              <a:t>Weekly: </a:t>
            </a:r>
            <a:r>
              <a:rPr lang="en-US" sz="1100" dirty="0">
                <a:solidFill>
                  <a:srgbClr val="B0BEC5"/>
                </a:solidFill>
                <a:latin typeface="Calibri" pitchFamily="34" charset="0"/>
                <a:ea typeface="Calibri" pitchFamily="34" charset="-122"/>
                <a:cs typeface="Calibri" pitchFamily="34" charset="-120"/>
              </a:rPr>
              <a:t>20 min reading LWKD + blog scan    </a:t>
            </a:r>
            <a:r>
              <a:rPr lang="en-US" sz="1100" b="1" dirty="0">
                <a:solidFill>
                  <a:srgbClr val="D4A843"/>
                </a:solidFill>
                <a:latin typeface="Calibri" pitchFamily="34" charset="0"/>
                <a:ea typeface="Calibri" pitchFamily="34" charset="-122"/>
                <a:cs typeface="Calibri" pitchFamily="34" charset="-120"/>
              </a:rPr>
              <a:t>Monthly: </a:t>
            </a:r>
            <a:r>
              <a:rPr lang="en-US" sz="1100" dirty="0">
                <a:solidFill>
                  <a:srgbClr val="B0BEC5"/>
                </a:solidFill>
                <a:latin typeface="Calibri" pitchFamily="34" charset="0"/>
                <a:ea typeface="Calibri" pitchFamily="34" charset="-122"/>
                <a:cs typeface="Calibri" pitchFamily="34" charset="-120"/>
              </a:rPr>
              <a:t>Wisdom of the Cloud newsletter    </a:t>
            </a:r>
            <a:r>
              <a:rPr lang="en-US" sz="1100" b="1" dirty="0">
                <a:solidFill>
                  <a:srgbClr val="D4A843"/>
                </a:solidFill>
                <a:latin typeface="Calibri" pitchFamily="34" charset="0"/>
                <a:ea typeface="Calibri" pitchFamily="34" charset="-122"/>
                <a:cs typeface="Calibri" pitchFamily="34" charset="-120"/>
              </a:rPr>
              <a:t>Ongoing: </a:t>
            </a:r>
            <a:r>
              <a:rPr lang="en-US" sz="1100" dirty="0">
                <a:solidFill>
                  <a:srgbClr val="B0BEC5"/>
                </a:solidFill>
                <a:latin typeface="Calibri" pitchFamily="34" charset="0"/>
                <a:ea typeface="Calibri" pitchFamily="34" charset="-122"/>
                <a:cs typeface="Calibri" pitchFamily="34" charset="-120"/>
              </a:rPr>
              <a:t>Join your SIG's Slack channel</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0F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 cy="1097280"/>
          </a:xfrm>
          <a:prstGeom prst="rect">
            <a:avLst/>
          </a:prstGeom>
          <a:noFill/>
          <a:ln/>
        </p:spPr>
        <p:txBody>
          <a:bodyPr wrap="square" rtlCol="0" anchor="ctr"/>
          <a:lstStyle/>
          <a:p>
            <a:pPr marL="0" indent="0">
              <a:buNone/>
            </a:pPr>
            <a:r>
              <a:rPr lang="en-US" sz="8000" b="1" dirty="0">
                <a:solidFill>
                  <a:srgbClr val="326CE5"/>
                </a:solidFill>
                <a:latin typeface="Georgia" pitchFamily="34" charset="0"/>
                <a:ea typeface="Georgia" pitchFamily="34" charset="-122"/>
                <a:cs typeface="Georgia" pitchFamily="34" charset="-120"/>
              </a:rPr>
              <a:t>“</a:t>
            </a:r>
            <a:endParaRPr lang="en-US" sz="8000" dirty="0"/>
          </a:p>
        </p:txBody>
      </p:sp>
      <p:sp>
        <p:nvSpPr>
          <p:cNvPr id="3" name="Text 1"/>
          <p:cNvSpPr/>
          <p:nvPr/>
        </p:nvSpPr>
        <p:spPr>
          <a:xfrm>
            <a:off x="731520" y="1280160"/>
            <a:ext cx="7315200" cy="2286000"/>
          </a:xfrm>
          <a:prstGeom prst="rect">
            <a:avLst/>
          </a:prstGeom>
          <a:noFill/>
          <a:ln/>
        </p:spPr>
        <p:txBody>
          <a:bodyPr wrap="square" rtlCol="0" anchor="t"/>
          <a:lstStyle/>
          <a:p>
            <a:pPr marL="0" indent="0">
              <a:buNone/>
            </a:pPr>
            <a:r>
              <a:rPr lang="en-US" sz="3200" i="1" dirty="0">
                <a:solidFill>
                  <a:srgbClr val="D4A843"/>
                </a:solidFill>
                <a:latin typeface="Georgia" pitchFamily="34" charset="0"/>
                <a:ea typeface="Georgia" pitchFamily="34" charset="-122"/>
                <a:cs typeface="Georgia" pitchFamily="34" charset="-120"/>
              </a:rPr>
              <a:t>I want to go deeper.</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How do I start</a:t>
            </a:r>
            <a:endParaRPr lang="en-US" sz="3200" dirty="0"/>
          </a:p>
          <a:p>
            <a:pPr marL="0" indent="0">
              <a:buNone/>
            </a:pPr>
            <a:r>
              <a:rPr lang="en-US" sz="3200" i="1" dirty="0">
                <a:solidFill>
                  <a:srgbClr val="D4A843"/>
                </a:solidFill>
                <a:latin typeface="Georgia" pitchFamily="34" charset="0"/>
                <a:ea typeface="Georgia" pitchFamily="34" charset="-122"/>
                <a:cs typeface="Georgia" pitchFamily="34" charset="-120"/>
              </a:rPr>
              <a:t>contributing?</a:t>
            </a:r>
            <a:endParaRPr lang="en-US" sz="3200" dirty="0"/>
          </a:p>
        </p:txBody>
      </p:sp>
      <p:sp>
        <p:nvSpPr>
          <p:cNvPr id="4" name="Text 2"/>
          <p:cNvSpPr/>
          <p:nvPr/>
        </p:nvSpPr>
        <p:spPr>
          <a:xfrm>
            <a:off x="5486400" y="4114800"/>
            <a:ext cx="2743200" cy="548640"/>
          </a:xfrm>
          <a:prstGeom prst="rect">
            <a:avLst/>
          </a:prstGeom>
          <a:noFill/>
          <a:ln/>
        </p:spPr>
        <p:txBody>
          <a:bodyPr wrap="square" rtlCol="0" anchor="ctr"/>
          <a:lstStyle/>
          <a:p>
            <a:pPr marL="0" indent="0" algn="r">
              <a:buNone/>
            </a:pPr>
            <a:r>
              <a:rPr lang="en-US" sz="1600" dirty="0">
                <a:solidFill>
                  <a:srgbClr val="78909C"/>
                </a:solidFill>
                <a:latin typeface="Calibri" pitchFamily="34" charset="0"/>
                <a:ea typeface="Calibri" pitchFamily="34" charset="-122"/>
                <a:cs typeface="Calibri" pitchFamily="34" charset="-120"/>
              </a:rPr>
              <a:t>— Mumshad</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111B2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1148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Start Contributing: 5 Steps</a:t>
            </a:r>
            <a:endParaRPr lang="en-US" sz="2200" dirty="0"/>
          </a:p>
        </p:txBody>
      </p:sp>
      <p:sp>
        <p:nvSpPr>
          <p:cNvPr id="3" name="Shape 1"/>
          <p:cNvSpPr/>
          <p:nvPr/>
        </p:nvSpPr>
        <p:spPr>
          <a:xfrm>
            <a:off x="457200" y="777240"/>
            <a:ext cx="457200" cy="548640"/>
          </a:xfrm>
          <a:prstGeom prst="rect">
            <a:avLst/>
          </a:prstGeom>
          <a:solidFill>
            <a:srgbClr val="326CE5"/>
          </a:solidFill>
          <a:ln/>
        </p:spPr>
        <p:txBody>
          <a:bodyPr/>
          <a:lstStyle/>
          <a:p>
            <a:endParaRPr lang="en-US"/>
          </a:p>
        </p:txBody>
      </p:sp>
      <p:sp>
        <p:nvSpPr>
          <p:cNvPr id="4" name="Text 2"/>
          <p:cNvSpPr/>
          <p:nvPr/>
        </p:nvSpPr>
        <p:spPr>
          <a:xfrm>
            <a:off x="457200" y="777240"/>
            <a:ext cx="457200" cy="54864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5" name="Text 3"/>
          <p:cNvSpPr/>
          <p:nvPr/>
        </p:nvSpPr>
        <p:spPr>
          <a:xfrm>
            <a:off x="1097280" y="777240"/>
            <a:ext cx="7315200" cy="64008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Join kubernetes.slack.com</a:t>
            </a:r>
            <a:endParaRPr lang="en-US" sz="1200" dirty="0"/>
          </a:p>
          <a:p>
            <a:pPr marL="0" indent="0">
              <a:buNone/>
            </a:pPr>
            <a:r>
              <a:rPr lang="en-US" sz="1200" dirty="0">
                <a:solidFill>
                  <a:srgbClr val="B0BEC5"/>
                </a:solidFill>
                <a:latin typeface="Calibri" pitchFamily="34" charset="0"/>
                <a:ea typeface="Calibri" pitchFamily="34" charset="-122"/>
                <a:cs typeface="Calibri" pitchFamily="34" charset="-120"/>
              </a:rPr>
              <a:t>Find #kubernetes-new-contributors</a:t>
            </a:r>
            <a:endParaRPr lang="en-US" sz="1200" dirty="0"/>
          </a:p>
        </p:txBody>
      </p:sp>
      <p:sp>
        <p:nvSpPr>
          <p:cNvPr id="6" name="Shape 4"/>
          <p:cNvSpPr/>
          <p:nvPr/>
        </p:nvSpPr>
        <p:spPr>
          <a:xfrm>
            <a:off x="457200" y="1527048"/>
            <a:ext cx="457200" cy="548640"/>
          </a:xfrm>
          <a:prstGeom prst="rect">
            <a:avLst/>
          </a:prstGeom>
          <a:solidFill>
            <a:srgbClr val="326CE5"/>
          </a:solidFill>
          <a:ln/>
        </p:spPr>
        <p:txBody>
          <a:bodyPr/>
          <a:lstStyle/>
          <a:p>
            <a:endParaRPr lang="en-US"/>
          </a:p>
        </p:txBody>
      </p:sp>
      <p:sp>
        <p:nvSpPr>
          <p:cNvPr id="7" name="Text 5"/>
          <p:cNvSpPr/>
          <p:nvPr/>
        </p:nvSpPr>
        <p:spPr>
          <a:xfrm>
            <a:off x="457200" y="1527048"/>
            <a:ext cx="457200" cy="54864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8" name="Text 6"/>
          <p:cNvSpPr/>
          <p:nvPr/>
        </p:nvSpPr>
        <p:spPr>
          <a:xfrm>
            <a:off x="1097280" y="1527048"/>
            <a:ext cx="7315200" cy="64008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Attend a SIG Meet &amp; Greet at KubeCon</a:t>
            </a:r>
            <a:endParaRPr lang="en-US" sz="1200" dirty="0"/>
          </a:p>
          <a:p>
            <a:r>
              <a:rPr lang="en-US" sz="1200" dirty="0">
                <a:solidFill>
                  <a:srgbClr val="B0BEC5"/>
                </a:solidFill>
                <a:latin typeface="Calibri" pitchFamily="34" charset="0"/>
                <a:ea typeface="Calibri" pitchFamily="34" charset="-122"/>
                <a:cs typeface="Calibri" pitchFamily="34" charset="-120"/>
              </a:rPr>
              <a:t>Check kccnceu2026.sched.com for day/room or https://x.com/kubernetesio/status/2028636693234962767</a:t>
            </a:r>
            <a:endParaRPr lang="en-US" sz="1200" dirty="0"/>
          </a:p>
        </p:txBody>
      </p:sp>
      <p:sp>
        <p:nvSpPr>
          <p:cNvPr id="9" name="Shape 7"/>
          <p:cNvSpPr/>
          <p:nvPr/>
        </p:nvSpPr>
        <p:spPr>
          <a:xfrm>
            <a:off x="457200" y="2276856"/>
            <a:ext cx="457200" cy="548640"/>
          </a:xfrm>
          <a:prstGeom prst="rect">
            <a:avLst/>
          </a:prstGeom>
          <a:solidFill>
            <a:srgbClr val="326CE5"/>
          </a:solidFill>
          <a:ln/>
        </p:spPr>
        <p:txBody>
          <a:bodyPr/>
          <a:lstStyle/>
          <a:p>
            <a:endParaRPr lang="en-US"/>
          </a:p>
        </p:txBody>
      </p:sp>
      <p:sp>
        <p:nvSpPr>
          <p:cNvPr id="10" name="Text 8"/>
          <p:cNvSpPr/>
          <p:nvPr/>
        </p:nvSpPr>
        <p:spPr>
          <a:xfrm>
            <a:off x="457200" y="2276856"/>
            <a:ext cx="457200" cy="54864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1" name="Text 9"/>
          <p:cNvSpPr/>
          <p:nvPr/>
        </p:nvSpPr>
        <p:spPr>
          <a:xfrm>
            <a:off x="1097280" y="2276856"/>
            <a:ext cx="7315200" cy="64008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Pick a SIG. Find their good-first-issue label on GitHub.</a:t>
            </a:r>
            <a:endParaRPr lang="en-US" sz="1200" dirty="0"/>
          </a:p>
          <a:p>
            <a:pPr marL="0" indent="0">
              <a:buNone/>
            </a:pPr>
            <a:r>
              <a:rPr lang="en-US" sz="1200" dirty="0">
                <a:solidFill>
                  <a:srgbClr val="B0BEC5"/>
                </a:solidFill>
                <a:latin typeface="Calibri" pitchFamily="34" charset="0"/>
                <a:ea typeface="Calibri" pitchFamily="34" charset="-122"/>
                <a:cs typeface="Calibri" pitchFamily="34" charset="-120"/>
              </a:rPr>
              <a:t>Every SIG maintains these.</a:t>
            </a:r>
            <a:endParaRPr lang="en-US" sz="1200" dirty="0"/>
          </a:p>
        </p:txBody>
      </p:sp>
      <p:sp>
        <p:nvSpPr>
          <p:cNvPr id="12" name="Shape 10"/>
          <p:cNvSpPr/>
          <p:nvPr/>
        </p:nvSpPr>
        <p:spPr>
          <a:xfrm>
            <a:off x="457200" y="3026664"/>
            <a:ext cx="457200" cy="548640"/>
          </a:xfrm>
          <a:prstGeom prst="rect">
            <a:avLst/>
          </a:prstGeom>
          <a:solidFill>
            <a:srgbClr val="326CE5"/>
          </a:solidFill>
          <a:ln/>
        </p:spPr>
        <p:txBody>
          <a:bodyPr/>
          <a:lstStyle/>
          <a:p>
            <a:endParaRPr lang="en-US"/>
          </a:p>
        </p:txBody>
      </p:sp>
      <p:sp>
        <p:nvSpPr>
          <p:cNvPr id="13" name="Text 11"/>
          <p:cNvSpPr/>
          <p:nvPr/>
        </p:nvSpPr>
        <p:spPr>
          <a:xfrm>
            <a:off x="457200" y="3026664"/>
            <a:ext cx="457200" cy="54864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14" name="Text 12"/>
          <p:cNvSpPr/>
          <p:nvPr/>
        </p:nvSpPr>
        <p:spPr>
          <a:xfrm>
            <a:off x="1097280" y="3026664"/>
            <a:ext cx="7315200" cy="64008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Attend the New Contributor Orientation</a:t>
            </a:r>
            <a:endParaRPr lang="en-US" sz="1200" dirty="0"/>
          </a:p>
          <a:p>
            <a:pPr marL="0" indent="0">
              <a:buNone/>
            </a:pPr>
            <a:r>
              <a:rPr lang="en-US" sz="1200" dirty="0">
                <a:solidFill>
                  <a:srgbClr val="B0BEC5"/>
                </a:solidFill>
                <a:latin typeface="Calibri" pitchFamily="34" charset="0"/>
                <a:ea typeface="Calibri" pitchFamily="34" charset="-122"/>
                <a:cs typeface="Calibri" pitchFamily="34" charset="-120"/>
              </a:rPr>
              <a:t>Also happening this week at KubeCon</a:t>
            </a:r>
            <a:endParaRPr lang="en-US" sz="1200" dirty="0"/>
          </a:p>
        </p:txBody>
      </p:sp>
      <p:sp>
        <p:nvSpPr>
          <p:cNvPr id="15" name="Shape 13"/>
          <p:cNvSpPr/>
          <p:nvPr/>
        </p:nvSpPr>
        <p:spPr>
          <a:xfrm>
            <a:off x="457200" y="3776472"/>
            <a:ext cx="457200" cy="548640"/>
          </a:xfrm>
          <a:prstGeom prst="rect">
            <a:avLst/>
          </a:prstGeom>
          <a:solidFill>
            <a:srgbClr val="326CE5"/>
          </a:solidFill>
          <a:ln/>
        </p:spPr>
        <p:txBody>
          <a:bodyPr/>
          <a:lstStyle/>
          <a:p>
            <a:endParaRPr lang="en-US"/>
          </a:p>
        </p:txBody>
      </p:sp>
      <p:sp>
        <p:nvSpPr>
          <p:cNvPr id="16" name="Text 14"/>
          <p:cNvSpPr/>
          <p:nvPr/>
        </p:nvSpPr>
        <p:spPr>
          <a:xfrm>
            <a:off x="457200" y="3776472"/>
            <a:ext cx="457200" cy="548640"/>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17" name="Text 15"/>
          <p:cNvSpPr/>
          <p:nvPr/>
        </p:nvSpPr>
        <p:spPr>
          <a:xfrm>
            <a:off x="1097280" y="3776472"/>
            <a:ext cx="7315200" cy="640080"/>
          </a:xfrm>
          <a:prstGeom prst="rect">
            <a:avLst/>
          </a:prstGeom>
          <a:noFill/>
          <a:ln/>
        </p:spPr>
        <p:txBody>
          <a:bodyPr wrap="square" rtlCol="0" anchor="ctr"/>
          <a:lstStyle/>
          <a:p>
            <a:pPr marL="0" indent="0">
              <a:buNone/>
            </a:pPr>
            <a:r>
              <a:rPr lang="en-US" sz="1200" dirty="0">
                <a:solidFill>
                  <a:srgbClr val="B0BEC5"/>
                </a:solidFill>
                <a:latin typeface="Calibri" pitchFamily="34" charset="0"/>
                <a:ea typeface="Calibri" pitchFamily="34" charset="-122"/>
                <a:cs typeface="Calibri" pitchFamily="34" charset="-120"/>
              </a:rPr>
              <a:t>Apply for the Release Team Shadow program</a:t>
            </a:r>
            <a:endParaRPr lang="en-US" sz="1200" dirty="0"/>
          </a:p>
          <a:p>
            <a:pPr marL="0" indent="0">
              <a:buNone/>
            </a:pPr>
            <a:r>
              <a:rPr lang="en-US" sz="1200" dirty="0">
                <a:solidFill>
                  <a:srgbClr val="B0BEC5"/>
                </a:solidFill>
                <a:latin typeface="Calibri" pitchFamily="34" charset="0"/>
                <a:ea typeface="Calibri" pitchFamily="34" charset="-122"/>
                <a:cs typeface="Calibri" pitchFamily="34" charset="-120"/>
              </a:rPr>
              <a:t>Shadow a release role for one cycle</a:t>
            </a:r>
            <a:endParaRPr lang="en-US" sz="1200" dirty="0"/>
          </a:p>
        </p:txBody>
      </p:sp>
      <p:sp>
        <p:nvSpPr>
          <p:cNvPr id="18" name="Shape 16"/>
          <p:cNvSpPr/>
          <p:nvPr/>
        </p:nvSpPr>
        <p:spPr>
          <a:xfrm>
            <a:off x="457200" y="4572000"/>
            <a:ext cx="8229600" cy="411480"/>
          </a:xfrm>
          <a:prstGeom prst="rect">
            <a:avLst/>
          </a:prstGeom>
          <a:solidFill>
            <a:srgbClr val="0D1527"/>
          </a:solidFill>
          <a:ln w="12700">
            <a:solidFill>
              <a:srgbClr val="D4A843"/>
            </a:solidFill>
            <a:prstDash val="solid"/>
          </a:ln>
        </p:spPr>
        <p:txBody>
          <a:bodyPr/>
          <a:lstStyle/>
          <a:p>
            <a:endParaRPr lang="en-US"/>
          </a:p>
        </p:txBody>
      </p:sp>
      <p:sp>
        <p:nvSpPr>
          <p:cNvPr id="19" name="Text 17"/>
          <p:cNvSpPr/>
          <p:nvPr/>
        </p:nvSpPr>
        <p:spPr>
          <a:xfrm>
            <a:off x="640080" y="4572000"/>
            <a:ext cx="7863840" cy="411480"/>
          </a:xfrm>
          <a:prstGeom prst="rect">
            <a:avLst/>
          </a:prstGeom>
          <a:noFill/>
          <a:ln/>
        </p:spPr>
        <p:txBody>
          <a:bodyPr wrap="square" rtlCol="0" anchor="ctr"/>
          <a:lstStyle/>
          <a:p>
            <a:pPr marL="0" indent="0">
              <a:buNone/>
            </a:pPr>
            <a:r>
              <a:rPr lang="en-US" sz="1100" b="1" dirty="0">
                <a:solidFill>
                  <a:srgbClr val="D4A843"/>
                </a:solidFill>
                <a:latin typeface="Calibri" pitchFamily="34" charset="0"/>
                <a:ea typeface="Calibri" pitchFamily="34" charset="-122"/>
                <a:cs typeface="Calibri" pitchFamily="34" charset="-120"/>
              </a:rPr>
              <a:t>Get on Slack and ask if uncertain.  Slack.cncf.io</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26CE5"/>
          </a:solidFill>
          <a:ln/>
        </p:spPr>
        <p:txBody>
          <a:bodyPr/>
          <a:lstStyle/>
          <a:p>
            <a:endParaRPr lang="en-US"/>
          </a:p>
        </p:txBody>
      </p:sp>
      <p:sp>
        <p:nvSpPr>
          <p:cNvPr id="3" name="Text 1"/>
          <p:cNvSpPr/>
          <p:nvPr/>
        </p:nvSpPr>
        <p:spPr>
          <a:xfrm>
            <a:off x="457200" y="274320"/>
            <a:ext cx="4572000" cy="64008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Scan This. Everything’s In The Repo.</a:t>
            </a:r>
            <a:endParaRPr lang="en-US" sz="2400" dirty="0"/>
          </a:p>
        </p:txBody>
      </p:sp>
      <p:sp>
        <p:nvSpPr>
          <p:cNvPr id="4" name="Shape 2"/>
          <p:cNvSpPr/>
          <p:nvPr/>
        </p:nvSpPr>
        <p:spPr>
          <a:xfrm>
            <a:off x="5943600" y="274320"/>
            <a:ext cx="2743200" cy="2743200"/>
          </a:xfrm>
          <a:prstGeom prst="rect">
            <a:avLst/>
          </a:prstGeom>
          <a:solidFill>
            <a:srgbClr val="FFFFFF"/>
          </a:solidFill>
          <a:ln/>
        </p:spPr>
        <p:txBody>
          <a:bodyPr/>
          <a:lstStyle/>
          <a:p>
            <a:endParaRPr lang="en-US"/>
          </a:p>
        </p:txBody>
      </p:sp>
      <p:sp>
        <p:nvSpPr>
          <p:cNvPr id="5" name="Text 3"/>
          <p:cNvSpPr/>
          <p:nvPr/>
        </p:nvSpPr>
        <p:spPr>
          <a:xfrm>
            <a:off x="5943600" y="1097280"/>
            <a:ext cx="2743200" cy="914400"/>
          </a:xfrm>
          <a:prstGeom prst="rect">
            <a:avLst/>
          </a:prstGeom>
          <a:noFill/>
          <a:ln/>
        </p:spPr>
        <p:txBody>
          <a:bodyPr wrap="square" rtlCol="0" anchor="ctr"/>
          <a:lstStyle/>
          <a:p>
            <a:pPr marL="0" indent="0" algn="ctr">
              <a:buNone/>
            </a:pPr>
            <a:r>
              <a:rPr lang="en-US" sz="1600" dirty="0">
                <a:solidFill>
                  <a:srgbClr val="0B1120"/>
                </a:solidFill>
                <a:latin typeface="Calibri" pitchFamily="34" charset="0"/>
                <a:ea typeface="Calibri" pitchFamily="34" charset="-122"/>
                <a:cs typeface="Calibri" pitchFamily="34" charset="-120"/>
              </a:rPr>
              <a:t>[QR CODE]</a:t>
            </a:r>
            <a:endParaRPr lang="en-US" sz="1600" dirty="0"/>
          </a:p>
        </p:txBody>
      </p:sp>
      <p:sp>
        <p:nvSpPr>
          <p:cNvPr id="6" name="Text 4"/>
          <p:cNvSpPr/>
          <p:nvPr/>
        </p:nvSpPr>
        <p:spPr>
          <a:xfrm>
            <a:off x="5486400" y="3063240"/>
            <a:ext cx="3474720" cy="274320"/>
          </a:xfrm>
          <a:prstGeom prst="rect">
            <a:avLst/>
          </a:prstGeom>
          <a:noFill/>
          <a:ln/>
        </p:spPr>
        <p:txBody>
          <a:bodyPr wrap="square" rtlCol="0" anchor="ctr"/>
          <a:lstStyle/>
          <a:p>
            <a:pPr marL="0" indent="0" algn="ctr">
              <a:buNone/>
            </a:pPr>
            <a:r>
              <a:rPr lang="en-US" sz="800" dirty="0">
                <a:solidFill>
                  <a:srgbClr val="78909C"/>
                </a:solidFill>
                <a:latin typeface="Consolas" pitchFamily="34" charset="0"/>
                <a:ea typeface="Consolas" pitchFamily="34" charset="-122"/>
                <a:cs typeface="Consolas" pitchFamily="34" charset="-120"/>
              </a:rPr>
              <a:t>github.com/</a:t>
            </a:r>
            <a:r>
              <a:rPr lang="en-US" sz="800" dirty="0" err="1">
                <a:solidFill>
                  <a:srgbClr val="78909C"/>
                </a:solidFill>
                <a:latin typeface="Consolas" pitchFamily="34" charset="0"/>
                <a:ea typeface="Consolas" pitchFamily="34" charset="-122"/>
                <a:cs typeface="Consolas" pitchFamily="34" charset="-120"/>
              </a:rPr>
              <a:t>kodekloudhub</a:t>
            </a:r>
            <a:r>
              <a:rPr lang="en-US" sz="800" dirty="0">
                <a:solidFill>
                  <a:srgbClr val="78909C"/>
                </a:solidFill>
                <a:latin typeface="Consolas" pitchFamily="34" charset="0"/>
                <a:ea typeface="Consolas" pitchFamily="34" charset="-122"/>
                <a:cs typeface="Consolas" pitchFamily="34" charset="-120"/>
              </a:rPr>
              <a:t>/k8s-staying-current</a:t>
            </a:r>
            <a:endParaRPr lang="en-US" sz="800" dirty="0"/>
          </a:p>
        </p:txBody>
      </p:sp>
      <p:sp>
        <p:nvSpPr>
          <p:cNvPr id="7" name="Text 5"/>
          <p:cNvSpPr/>
          <p:nvPr/>
        </p:nvSpPr>
        <p:spPr>
          <a:xfrm>
            <a:off x="457200" y="1188720"/>
            <a:ext cx="5029200" cy="457200"/>
          </a:xfrm>
          <a:prstGeom prst="rect">
            <a:avLst/>
          </a:prstGeom>
          <a:noFill/>
          <a:ln/>
        </p:spPr>
        <p:txBody>
          <a:bodyPr wrap="square" rtlCol="0" anchor="ctr"/>
          <a:lstStyle/>
          <a:p>
            <a:pPr marL="0" indent="0">
              <a:buNone/>
            </a:pPr>
            <a:r>
              <a:rPr lang="en-US" sz="1300" b="1" dirty="0">
                <a:solidFill>
                  <a:srgbClr val="326CE5"/>
                </a:solidFill>
                <a:latin typeface="Georgia" pitchFamily="34" charset="0"/>
                <a:ea typeface="Georgia" pitchFamily="34" charset="-122"/>
                <a:cs typeface="Georgia" pitchFamily="34" charset="-120"/>
              </a:rPr>
              <a:t>1. </a:t>
            </a:r>
            <a:r>
              <a:rPr lang="en-US" sz="1300" dirty="0">
                <a:solidFill>
                  <a:srgbClr val="B0BEC5"/>
                </a:solidFill>
                <a:latin typeface="Calibri" pitchFamily="34" charset="0"/>
                <a:ea typeface="Calibri" pitchFamily="34" charset="-122"/>
                <a:cs typeface="Calibri" pitchFamily="34" charset="-120"/>
              </a:rPr>
              <a:t>Kubernetes ships 3x/year. Your cert is a snapshot.</a:t>
            </a:r>
            <a:endParaRPr lang="en-US" sz="1300" dirty="0"/>
          </a:p>
        </p:txBody>
      </p:sp>
      <p:sp>
        <p:nvSpPr>
          <p:cNvPr id="8" name="Text 6"/>
          <p:cNvSpPr/>
          <p:nvPr/>
        </p:nvSpPr>
        <p:spPr>
          <a:xfrm>
            <a:off x="457200" y="1691640"/>
            <a:ext cx="5029200" cy="457200"/>
          </a:xfrm>
          <a:prstGeom prst="rect">
            <a:avLst/>
          </a:prstGeom>
          <a:noFill/>
          <a:ln/>
        </p:spPr>
        <p:txBody>
          <a:bodyPr wrap="square" rtlCol="0" anchor="ctr"/>
          <a:lstStyle/>
          <a:p>
            <a:pPr marL="0" indent="0">
              <a:buNone/>
            </a:pPr>
            <a:r>
              <a:rPr lang="en-US" sz="1300" b="1" dirty="0">
                <a:solidFill>
                  <a:srgbClr val="326CE5"/>
                </a:solidFill>
                <a:latin typeface="Georgia" pitchFamily="34" charset="0"/>
                <a:ea typeface="Georgia" pitchFamily="34" charset="-122"/>
                <a:cs typeface="Georgia" pitchFamily="34" charset="-120"/>
              </a:rPr>
              <a:t>2. </a:t>
            </a:r>
            <a:r>
              <a:rPr lang="en-US" sz="1300" dirty="0">
                <a:solidFill>
                  <a:srgbClr val="B0BEC5"/>
                </a:solidFill>
                <a:latin typeface="Calibri" pitchFamily="34" charset="0"/>
                <a:ea typeface="Calibri" pitchFamily="34" charset="-122"/>
                <a:cs typeface="Calibri" pitchFamily="34" charset="-120"/>
              </a:rPr>
              <a:t>SIGs own everything. CNCF is the landlord, not the architect.</a:t>
            </a:r>
            <a:endParaRPr lang="en-US" sz="1300" dirty="0"/>
          </a:p>
        </p:txBody>
      </p:sp>
      <p:sp>
        <p:nvSpPr>
          <p:cNvPr id="9" name="Text 7"/>
          <p:cNvSpPr/>
          <p:nvPr/>
        </p:nvSpPr>
        <p:spPr>
          <a:xfrm>
            <a:off x="457200" y="2194560"/>
            <a:ext cx="5029200" cy="457200"/>
          </a:xfrm>
          <a:prstGeom prst="rect">
            <a:avLst/>
          </a:prstGeom>
          <a:noFill/>
          <a:ln/>
        </p:spPr>
        <p:txBody>
          <a:bodyPr wrap="square" rtlCol="0" anchor="ctr"/>
          <a:lstStyle/>
          <a:p>
            <a:pPr marL="0" indent="0">
              <a:buNone/>
            </a:pPr>
            <a:r>
              <a:rPr lang="en-US" sz="1300" b="1" dirty="0">
                <a:solidFill>
                  <a:srgbClr val="326CE5"/>
                </a:solidFill>
                <a:latin typeface="Georgia" pitchFamily="34" charset="0"/>
                <a:ea typeface="Georgia" pitchFamily="34" charset="-122"/>
                <a:cs typeface="Georgia" pitchFamily="34" charset="-120"/>
              </a:rPr>
              <a:t>3. </a:t>
            </a:r>
            <a:r>
              <a:rPr lang="en-US" sz="1300" dirty="0">
                <a:solidFill>
                  <a:srgbClr val="B0BEC5"/>
                </a:solidFill>
                <a:latin typeface="Calibri" pitchFamily="34" charset="0"/>
                <a:ea typeface="Calibri" pitchFamily="34" charset="-122"/>
                <a:cs typeface="Calibri" pitchFamily="34" charset="-120"/>
              </a:rPr>
              <a:t>TAGs advise across the CNCF ecosystem. SIGs build Kubernetes.</a:t>
            </a:r>
            <a:endParaRPr lang="en-US" sz="1300" dirty="0"/>
          </a:p>
        </p:txBody>
      </p:sp>
      <p:sp>
        <p:nvSpPr>
          <p:cNvPr id="10" name="Text 8"/>
          <p:cNvSpPr/>
          <p:nvPr/>
        </p:nvSpPr>
        <p:spPr>
          <a:xfrm>
            <a:off x="457200" y="2697480"/>
            <a:ext cx="5029200" cy="457200"/>
          </a:xfrm>
          <a:prstGeom prst="rect">
            <a:avLst/>
          </a:prstGeom>
          <a:noFill/>
          <a:ln/>
        </p:spPr>
        <p:txBody>
          <a:bodyPr wrap="square" rtlCol="0" anchor="ctr"/>
          <a:lstStyle/>
          <a:p>
            <a:pPr marL="0" indent="0">
              <a:buNone/>
            </a:pPr>
            <a:r>
              <a:rPr lang="en-US" sz="1300" b="1" dirty="0">
                <a:solidFill>
                  <a:srgbClr val="326CE5"/>
                </a:solidFill>
                <a:latin typeface="Georgia" pitchFamily="34" charset="0"/>
                <a:ea typeface="Georgia" pitchFamily="34" charset="-122"/>
                <a:cs typeface="Georgia" pitchFamily="34" charset="-120"/>
              </a:rPr>
              <a:t>4. </a:t>
            </a:r>
            <a:r>
              <a:rPr lang="en-US" sz="1300" dirty="0">
                <a:solidFill>
                  <a:srgbClr val="B0BEC5"/>
                </a:solidFill>
                <a:latin typeface="Calibri" pitchFamily="34" charset="0"/>
                <a:ea typeface="Calibri" pitchFamily="34" charset="-122"/>
                <a:cs typeface="Calibri" pitchFamily="34" charset="-120"/>
              </a:rPr>
              <a:t>Five subscriptions and 20 minutes a week keeps you current.</a:t>
            </a:r>
            <a:endParaRPr lang="en-US" sz="1300" dirty="0"/>
          </a:p>
        </p:txBody>
      </p:sp>
      <p:sp>
        <p:nvSpPr>
          <p:cNvPr id="11" name="Text 9"/>
          <p:cNvSpPr/>
          <p:nvPr/>
        </p:nvSpPr>
        <p:spPr>
          <a:xfrm>
            <a:off x="457200" y="3200400"/>
            <a:ext cx="5029200" cy="457200"/>
          </a:xfrm>
          <a:prstGeom prst="rect">
            <a:avLst/>
          </a:prstGeom>
          <a:noFill/>
          <a:ln/>
        </p:spPr>
        <p:txBody>
          <a:bodyPr wrap="square" rtlCol="0" anchor="ctr"/>
          <a:lstStyle/>
          <a:p>
            <a:pPr marL="0" indent="0">
              <a:buNone/>
            </a:pPr>
            <a:r>
              <a:rPr lang="en-US" sz="1300" b="1" dirty="0">
                <a:solidFill>
                  <a:srgbClr val="326CE5"/>
                </a:solidFill>
                <a:latin typeface="Georgia" pitchFamily="34" charset="0"/>
                <a:ea typeface="Georgia" pitchFamily="34" charset="-122"/>
                <a:cs typeface="Georgia" pitchFamily="34" charset="-120"/>
              </a:rPr>
              <a:t>5. </a:t>
            </a:r>
            <a:r>
              <a:rPr lang="en-US" sz="1300" dirty="0">
                <a:solidFill>
                  <a:srgbClr val="B0BEC5"/>
                </a:solidFill>
                <a:latin typeface="Calibri" pitchFamily="34" charset="0"/>
                <a:ea typeface="Calibri" pitchFamily="34" charset="-122"/>
                <a:cs typeface="Calibri" pitchFamily="34" charset="-120"/>
              </a:rPr>
              <a:t>The contribution path is documented and the people are here this week.</a:t>
            </a:r>
            <a:endParaRPr lang="en-US" sz="1300" dirty="0"/>
          </a:p>
        </p:txBody>
      </p:sp>
      <p:sp>
        <p:nvSpPr>
          <p:cNvPr id="12" name="Text 10"/>
          <p:cNvSpPr/>
          <p:nvPr/>
        </p:nvSpPr>
        <p:spPr>
          <a:xfrm>
            <a:off x="457200" y="4434840"/>
            <a:ext cx="4572000" cy="365760"/>
          </a:xfrm>
          <a:prstGeom prst="rect">
            <a:avLst/>
          </a:prstGeom>
          <a:noFill/>
          <a:ln/>
        </p:spPr>
        <p:txBody>
          <a:bodyPr wrap="square" rtlCol="0" anchor="ctr"/>
          <a:lstStyle/>
          <a:p>
            <a:pPr marL="0" indent="0">
              <a:buNone/>
            </a:pPr>
            <a:r>
              <a:rPr lang="en-US" sz="1100" dirty="0">
                <a:solidFill>
                  <a:srgbClr val="78909C"/>
                </a:solidFill>
                <a:latin typeface="Calibri" pitchFamily="34" charset="0"/>
                <a:ea typeface="Calibri" pitchFamily="34" charset="-122"/>
                <a:cs typeface="Calibri" pitchFamily="34" charset="-120"/>
              </a:rPr>
              <a:t>Mumshad Mannambeth  &amp;  Michael Forrester  •  KodeKloud</a:t>
            </a:r>
            <a:endParaRPr lang="en-US" sz="1100" dirty="0"/>
          </a:p>
        </p:txBody>
      </p:sp>
      <p:pic>
        <p:nvPicPr>
          <p:cNvPr id="14" name="Picture 13">
            <a:extLst>
              <a:ext uri="{FF2B5EF4-FFF2-40B4-BE49-F238E27FC236}">
                <a16:creationId xmlns:a16="http://schemas.microsoft.com/office/drawing/2014/main" id="{397AB43C-4390-9BF1-19AC-88FB9E2D31F0}"/>
              </a:ext>
            </a:extLst>
          </p:cNvPr>
          <p:cNvPicPr>
            <a:picLocks noChangeAspect="1"/>
          </p:cNvPicPr>
          <p:nvPr/>
        </p:nvPicPr>
        <p:blipFill>
          <a:blip r:embed="rId3"/>
          <a:stretch>
            <a:fillRect/>
          </a:stretch>
        </p:blipFill>
        <p:spPr>
          <a:xfrm>
            <a:off x="5985164" y="237194"/>
            <a:ext cx="2701636" cy="28957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4405</Words>
  <Application>Microsoft Office PowerPoint</Application>
  <PresentationFormat>On-screen Show (16:9)</PresentationFormat>
  <Paragraphs>341</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Kubernetes Actually Ships</dc:title>
  <dc:subject>PptxGenJS Presentation</dc:subject>
  <dc:creator>Michael Forrester &amp; Mumshad Mannambeth</dc:creator>
  <cp:lastModifiedBy>Michael Forrester</cp:lastModifiedBy>
  <cp:revision>5</cp:revision>
  <dcterms:created xsi:type="dcterms:W3CDTF">2026-03-22T09:28:17Z</dcterms:created>
  <dcterms:modified xsi:type="dcterms:W3CDTF">2026-03-22T22:32:37Z</dcterms:modified>
</cp:coreProperties>
</file>